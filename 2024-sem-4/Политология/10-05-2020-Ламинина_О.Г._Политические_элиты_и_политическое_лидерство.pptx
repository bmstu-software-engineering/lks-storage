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01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784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1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355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89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89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4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076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89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7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51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129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142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687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661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320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9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1E78D41-E547-4EFD-A96C-64F3BCB07CBC}" type="datetimeFigureOut">
              <a:rPr lang="ru-RU" smtClean="0"/>
              <a:t>27.04.2020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069B136-02D3-4CAC-AB02-1F93B572C9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96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/>
          </a:bodyPr>
          <a:lstStyle/>
          <a:p>
            <a:r>
              <a:rPr lang="ru-RU" b="1" dirty="0"/>
              <a:t>ПОЛИТИЧЕСКАЯ ЭЛИТА</a:t>
            </a:r>
            <a:br>
              <a:rPr lang="ru-RU" b="1" dirty="0"/>
            </a:br>
            <a:r>
              <a:rPr lang="ru-RU" b="1" dirty="0" smtClean="0"/>
              <a:t>И </a:t>
            </a:r>
            <a:r>
              <a:rPr lang="ru-RU" b="1" dirty="0"/>
              <a:t>ПОЛИТИЧЕСКОЕ ЛИДЕРСТВО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073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50128" y="408373"/>
            <a:ext cx="7962296" cy="103942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912091" y="1447800"/>
            <a:ext cx="10515600" cy="4351338"/>
          </a:xfrm>
        </p:spPr>
        <p:txBody>
          <a:bodyPr/>
          <a:lstStyle/>
          <a:p>
            <a:r>
              <a:rPr lang="ru-RU" b="1" dirty="0"/>
              <a:t>Элита</a:t>
            </a:r>
            <a:r>
              <a:rPr lang="ru-RU" dirty="0"/>
              <a:t> (от фр. </a:t>
            </a:r>
            <a:r>
              <a:rPr lang="ru-RU" dirty="0" err="1"/>
              <a:t>elite</a:t>
            </a:r>
            <a:r>
              <a:rPr lang="ru-RU" dirty="0"/>
              <a:t>) означает лучший, отборный, избранный. В повседневном общении этим словом можно охарактеризовать самые различные предметы и явления (например, элитный клуб, элитное зерно и т.д.).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8407" y1="19225" x2="6456" y2="58320"/>
                        <a14:foregroundMark x1="13324" y1="72375" x2="55769" y2="95800"/>
                        <a14:foregroundMark x1="76374" y1="84330" x2="88187" y2="33441"/>
                        <a14:foregroundMark x1="16758" y1="20679" x2="40522" y2="808"/>
                        <a14:foregroundMark x1="58242" y1="4847" x2="81319" y2="221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54" y="3359849"/>
            <a:ext cx="2963044" cy="2519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730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38200" y="1382280"/>
            <a:ext cx="738216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«Тремя качествами должен обладать тот, кто намерен занимать высшие должности: во-первых, сочувствовать существующему государственному строю, затем, иметь большие способности к выполнению обязанностей, сопряженных с должностью; в-третьих, отличаться добродетелью и справедливостью</a:t>
            </a:r>
            <a:r>
              <a:rPr lang="ru-RU" dirty="0" smtClean="0"/>
              <a:t>».</a:t>
            </a:r>
          </a:p>
          <a:p>
            <a:pPr marL="0" indent="0" algn="r">
              <a:buNone/>
            </a:pPr>
            <a:r>
              <a:rPr lang="ru-RU" dirty="0" smtClean="0"/>
              <a:t>Аристотель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466" y="1579418"/>
            <a:ext cx="3262567" cy="36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976745" y="139151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В политологии принято делить элиту на две составные </a:t>
            </a:r>
            <a:r>
              <a:rPr lang="ru-RU" b="1" dirty="0" smtClean="0"/>
              <a:t>части:</a:t>
            </a:r>
          </a:p>
          <a:p>
            <a:r>
              <a:rPr lang="ru-RU" dirty="0" smtClean="0"/>
              <a:t>Властвующая элита</a:t>
            </a:r>
          </a:p>
          <a:p>
            <a:r>
              <a:rPr lang="ru-RU" dirty="0"/>
              <a:t>П</a:t>
            </a:r>
            <a:r>
              <a:rPr lang="ru-RU" dirty="0" smtClean="0"/>
              <a:t>олитическая элита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77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764309" y="634133"/>
            <a:ext cx="10515600" cy="56743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Появление и существование политической элиты обусловлено следующими факторами:</a:t>
            </a:r>
          </a:p>
          <a:p>
            <a:r>
              <a:rPr lang="ru-RU" dirty="0"/>
              <a:t>п</a:t>
            </a:r>
            <a:r>
              <a:rPr lang="ru-RU" dirty="0" smtClean="0"/>
              <a:t>сихологическими </a:t>
            </a:r>
            <a:r>
              <a:rPr lang="ru-RU" dirty="0"/>
              <a:t>и социальными особенностями людей, их неодинаковыми способностями, возможностями и желанием участ­вовать в </a:t>
            </a:r>
            <a:r>
              <a:rPr lang="ru-RU" dirty="0" smtClean="0"/>
              <a:t>политике;</a:t>
            </a:r>
            <a:endParaRPr lang="ru-RU" dirty="0"/>
          </a:p>
          <a:p>
            <a:r>
              <a:rPr lang="ru-RU" dirty="0"/>
              <a:t>законом разделения труда, который требует профессиональ­ного занятия управлением, определенной </a:t>
            </a:r>
            <a:r>
              <a:rPr lang="ru-RU" dirty="0" smtClean="0"/>
              <a:t>специализации;</a:t>
            </a:r>
            <a:endParaRPr lang="ru-RU" dirty="0"/>
          </a:p>
          <a:p>
            <a:r>
              <a:rPr lang="ru-RU" dirty="0"/>
              <a:t>высокой социальной значимостью управленческого труда и его соответствующим стимулированием;</a:t>
            </a:r>
          </a:p>
          <a:p>
            <a:r>
              <a:rPr lang="ru-RU" dirty="0"/>
              <a:t>широкими возможностями использования управленческой деятельности для получения социальных привилегий (ибо она прямо связана с распределением ценностей);</a:t>
            </a:r>
          </a:p>
          <a:p>
            <a:r>
              <a:rPr lang="ru-RU" dirty="0"/>
              <a:t>практической невозможностью осуществления всеобъемлющего контроля за политическими руководителями;</a:t>
            </a:r>
          </a:p>
          <a:p>
            <a:r>
              <a:rPr lang="ru-RU" dirty="0"/>
              <a:t>политической пассивностью широких масс населения, главные интересы которых обычно лежат вне политики.</a:t>
            </a:r>
          </a:p>
        </p:txBody>
      </p:sp>
    </p:spTree>
    <p:extLst>
      <p:ext uri="{BB962C8B-B14F-4D97-AF65-F5344CB8AC3E}">
        <p14:creationId xmlns:p14="http://schemas.microsoft.com/office/powerpoint/2010/main" val="196913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Системы </a:t>
            </a:r>
            <a:r>
              <a:rPr lang="ru-RU" b="1" dirty="0" err="1"/>
              <a:t>рекрутирования</a:t>
            </a:r>
            <a:r>
              <a:rPr lang="ru-RU" b="1" dirty="0"/>
              <a:t> элиты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Система гильдии </a:t>
            </a:r>
          </a:p>
          <a:p>
            <a:r>
              <a:rPr lang="ru-RU" dirty="0" smtClean="0"/>
              <a:t>Антрепренерская </a:t>
            </a:r>
            <a:r>
              <a:rPr lang="ru-RU" dirty="0"/>
              <a:t>(предпринимательская</a:t>
            </a:r>
            <a:r>
              <a:rPr lang="ru-RU" dirty="0" smtClean="0"/>
              <a:t>)</a:t>
            </a:r>
          </a:p>
          <a:p>
            <a:r>
              <a:rPr lang="ru-RU" dirty="0" smtClean="0"/>
              <a:t>Номенклатурная </a:t>
            </a:r>
            <a:r>
              <a:rPr lang="ru-RU" dirty="0"/>
              <a:t>система</a:t>
            </a:r>
          </a:p>
        </p:txBody>
      </p:sp>
    </p:spTree>
    <p:extLst>
      <p:ext uri="{BB962C8B-B14F-4D97-AF65-F5344CB8AC3E}">
        <p14:creationId xmlns:p14="http://schemas.microsoft.com/office/powerpoint/2010/main" val="3420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Современная элита делится на четыре группы: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П</a:t>
            </a:r>
            <a:r>
              <a:rPr lang="ru-RU" dirty="0" smtClean="0"/>
              <a:t>равящая элита</a:t>
            </a:r>
          </a:p>
          <a:p>
            <a:r>
              <a:rPr lang="ru-RU" dirty="0"/>
              <a:t>В</a:t>
            </a:r>
            <a:r>
              <a:rPr lang="ru-RU" dirty="0" smtClean="0"/>
              <a:t>ысшая элита </a:t>
            </a:r>
          </a:p>
          <a:p>
            <a:r>
              <a:rPr lang="ru-RU" dirty="0"/>
              <a:t>С</a:t>
            </a:r>
            <a:r>
              <a:rPr lang="ru-RU" dirty="0" smtClean="0"/>
              <a:t>редняя элита </a:t>
            </a:r>
          </a:p>
          <a:p>
            <a:r>
              <a:rPr lang="ru-RU" dirty="0"/>
              <a:t>А</a:t>
            </a:r>
            <a:r>
              <a:rPr lang="ru-RU" dirty="0" smtClean="0"/>
              <a:t>дминистративная элита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49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Функции политической элиты</a:t>
            </a:r>
            <a:endParaRPr lang="ru-RU" b="1" dirty="0"/>
          </a:p>
        </p:txBody>
      </p:sp>
      <p:pic>
        <p:nvPicPr>
          <p:cNvPr id="4" name="Picture 5" descr="https://img.wikireading.ru/379930_25_i_082.png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84218" y="1906025"/>
            <a:ext cx="8377217" cy="369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3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cs typeface="Times New Roman" pitchFamily="18" charset="0"/>
              </a:rPr>
              <a:t>Теория элит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cs typeface="Times New Roman" pitchFamily="18" charset="0"/>
              </a:rPr>
              <a:t>Теория элит — концепция, предполагающая, что народ в целом не может управлять государством, и эту функцию берёт на себя элита общества.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076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cs typeface="Times New Roman" pitchFamily="18" charset="0"/>
              </a:rPr>
              <a:t>Теория </a:t>
            </a:r>
            <a:r>
              <a:rPr lang="ru-RU" b="1" dirty="0" err="1" smtClean="0">
                <a:cs typeface="Times New Roman" pitchFamily="18" charset="0"/>
              </a:rPr>
              <a:t>Никколо</a:t>
            </a:r>
            <a:r>
              <a:rPr lang="ru-RU" b="1" dirty="0" smtClean="0">
                <a:cs typeface="Times New Roman" pitchFamily="18" charset="0"/>
              </a:rPr>
              <a:t> Макиавелли</a:t>
            </a:r>
            <a:br>
              <a:rPr lang="ru-RU" b="1" dirty="0" smtClean="0">
                <a:cs typeface="Times New Roman" pitchFamily="18" charset="0"/>
              </a:rPr>
            </a:br>
            <a:r>
              <a:rPr lang="ru-RU" sz="2700" b="1" dirty="0" smtClean="0">
                <a:cs typeface="Times New Roman" pitchFamily="18" charset="0"/>
              </a:rPr>
              <a:t>(1469—1527)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38199" y="1825625"/>
            <a:ext cx="7871691" cy="4351338"/>
          </a:xfrm>
        </p:spPr>
        <p:txBody>
          <a:bodyPr/>
          <a:lstStyle/>
          <a:p>
            <a:r>
              <a:rPr lang="ru-RU" dirty="0" smtClean="0"/>
              <a:t>В </a:t>
            </a:r>
            <a:r>
              <a:rPr lang="ru-RU" dirty="0"/>
              <a:t>основе элитарности лежит факт естественных различий людей: физических, психологических, умственных, </a:t>
            </a:r>
            <a:r>
              <a:rPr lang="ru-RU" dirty="0" smtClean="0"/>
              <a:t>моральных.</a:t>
            </a:r>
          </a:p>
          <a:p>
            <a:r>
              <a:rPr lang="ru-RU" dirty="0"/>
              <a:t>Э</a:t>
            </a:r>
            <a:r>
              <a:rPr lang="ru-RU" dirty="0" smtClean="0"/>
              <a:t>лита </a:t>
            </a:r>
            <a:r>
              <a:rPr lang="ru-RU" dirty="0"/>
              <a:t>характеризуется особыми политическими и организаторскими </a:t>
            </a:r>
            <a:r>
              <a:rPr lang="ru-RU" dirty="0" smtClean="0"/>
              <a:t>качествами .</a:t>
            </a:r>
          </a:p>
          <a:p>
            <a:r>
              <a:rPr lang="ru-RU" dirty="0"/>
              <a:t>М</a:t>
            </a:r>
            <a:r>
              <a:rPr lang="ru-RU" dirty="0" smtClean="0"/>
              <a:t>ассы </a:t>
            </a:r>
            <a:r>
              <a:rPr lang="ru-RU" dirty="0"/>
              <a:t>признают право элиты на </a:t>
            </a:r>
            <a:r>
              <a:rPr lang="ru-RU" dirty="0" smtClean="0"/>
              <a:t>власть.</a:t>
            </a:r>
          </a:p>
          <a:p>
            <a:r>
              <a:rPr lang="ru-RU" dirty="0" err="1"/>
              <a:t>М</a:t>
            </a:r>
            <a:r>
              <a:rPr lang="ru-RU" dirty="0" err="1" smtClean="0"/>
              <a:t>литы</a:t>
            </a:r>
            <a:r>
              <a:rPr lang="ru-RU" dirty="0" smtClean="0"/>
              <a:t> </a:t>
            </a:r>
            <a:r>
              <a:rPr lang="ru-RU" dirty="0"/>
              <a:t>сменяют друг друга в ходе борьбы за власть, поскольку добровольно власть никто не </a:t>
            </a:r>
            <a:r>
              <a:rPr lang="ru-RU" dirty="0" smtClean="0"/>
              <a:t>уступает.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2873" y="1921164"/>
            <a:ext cx="3417454" cy="400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78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>
                <a:cs typeface="Times New Roman" pitchFamily="18" charset="0"/>
              </a:rPr>
              <a:t>Теория </a:t>
            </a:r>
            <a:r>
              <a:rPr lang="ru-RU" b="1" dirty="0" smtClean="0"/>
              <a:t>Гаэтано</a:t>
            </a:r>
            <a:r>
              <a:rPr lang="ru-RU" b="1" dirty="0" smtClean="0">
                <a:cs typeface="Times New Roman" pitchFamily="18" charset="0"/>
              </a:rPr>
              <a:t> </a:t>
            </a:r>
            <a:r>
              <a:rPr lang="ru-RU" b="1" dirty="0" err="1" smtClean="0">
                <a:cs typeface="Times New Roman" pitchFamily="18" charset="0"/>
              </a:rPr>
              <a:t>Моска</a:t>
            </a:r>
            <a:r>
              <a:rPr lang="ru-RU" b="1" dirty="0" smtClean="0">
                <a:cs typeface="Times New Roman" pitchFamily="18" charset="0"/>
              </a:rPr>
              <a:t/>
            </a:r>
            <a:br>
              <a:rPr lang="ru-RU" b="1" dirty="0" smtClean="0">
                <a:cs typeface="Times New Roman" pitchFamily="18" charset="0"/>
              </a:rPr>
            </a:br>
            <a:r>
              <a:rPr lang="ru-RU" sz="2700" b="1" dirty="0" smtClean="0">
                <a:cs typeface="Times New Roman" pitchFamily="18" charset="0"/>
              </a:rPr>
              <a:t>(1858—1941)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38199" y="1825625"/>
            <a:ext cx="8074891" cy="4351338"/>
          </a:xfrm>
        </p:spPr>
        <p:txBody>
          <a:bodyPr>
            <a:normAutofit fontScale="40000" lnSpcReduction="20000"/>
          </a:bodyPr>
          <a:lstStyle/>
          <a:p>
            <a:r>
              <a:rPr lang="ru-RU" sz="3600" dirty="0" smtClean="0"/>
              <a:t>Итальянский социолог и политолог. В своей работе «Правящий класс» он утверждал, что все общества разделены на два класса: правящий (элиту) и управляемый. Правящий класс монополизирует власть, используя законные и незаконные методы для ее поддержания. Господство элит существует в любом обществе — это закон, который подтверждается всей историей человечества.</a:t>
            </a:r>
          </a:p>
          <a:p>
            <a:r>
              <a:rPr lang="ru-RU" sz="3600" dirty="0" smtClean="0"/>
              <a:t>Доступ в политический класс предполагает наличие особых качеств и способностей. Раньше ценилась военная доблесть и отвага, позже деньги и богатства. Но самым важным критерием для отбора в элиту является способность управлять, наличие знаний о ментальности народа, его национального характера.</a:t>
            </a:r>
          </a:p>
          <a:p>
            <a:r>
              <a:rPr lang="ru-RU" sz="3600" dirty="0" smtClean="0"/>
              <a:t>Он отмечал две тенденции в развитии правящего класса: стремление представителей данного класса сделать свои функции и привилегии наследственными, а с другой стороны — стремление новых сил сменить старые. Если преобладает первая тенденция (аристократическая), то правящий класс становится закрытым и происходит стагнация общества. </a:t>
            </a:r>
          </a:p>
          <a:p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507" y="1690688"/>
            <a:ext cx="3083528" cy="4205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5827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Теория </a:t>
            </a:r>
            <a:r>
              <a:rPr lang="ru-RU" b="1" dirty="0" err="1" smtClean="0"/>
              <a:t>Вильфредо</a:t>
            </a:r>
            <a:r>
              <a:rPr lang="ru-RU" b="1" dirty="0" smtClean="0"/>
              <a:t> Парето </a:t>
            </a:r>
            <a:r>
              <a:rPr lang="ru-RU" sz="2800" b="1" dirty="0" smtClean="0"/>
              <a:t>(1848-1923)</a:t>
            </a:r>
            <a:endParaRPr lang="ru-RU" sz="2800" b="1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051" y="1795752"/>
            <a:ext cx="3264406" cy="429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48145" y="1797916"/>
            <a:ext cx="7869382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smtClean="0"/>
              <a:t>Итальянский экономист и социолог. Он утверждал, что все общества делятся на управляющих и управляемых. Управляющие должны обладать особыми качествами (гибкостью, хитростью, умением убеждать других), чтобы уметь подчинять себе других. Они также должны обладать готовностью использовать насилие.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itchFamily="18" charset="0"/>
              </a:rPr>
              <a:t>Элита разделяется на две части: «правящую» и «</a:t>
            </a:r>
            <a:r>
              <a:rPr lang="ru-RU" sz="2000" dirty="0" err="1">
                <a:cs typeface="Times New Roman" pitchFamily="18" charset="0"/>
              </a:rPr>
              <a:t>неправящую</a:t>
            </a:r>
            <a:r>
              <a:rPr lang="ru-RU" sz="2000" dirty="0">
                <a:cs typeface="Times New Roman" pitchFamily="18" charset="0"/>
              </a:rPr>
              <a:t>», первая непосредственно участвует в управлении, а вторая — далека от непосредственного принятия властных решений</a:t>
            </a:r>
            <a:r>
              <a:rPr lang="ru-RU" sz="2000" dirty="0" smtClean="0">
                <a:cs typeface="Times New Roman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cs typeface="Times New Roman" pitchFamily="18" charset="0"/>
              </a:rPr>
              <a:t>Круговорот элит —привилегированные меньшинства борются, приходят к власти, пользуются этой властью, приходят в упадок и заменяются другими меньшинствами. Элиты имеют тенденцию к упадку, а «</a:t>
            </a:r>
            <a:r>
              <a:rPr lang="ru-RU" sz="2000" dirty="0" err="1">
                <a:cs typeface="Times New Roman" pitchFamily="18" charset="0"/>
              </a:rPr>
              <a:t>неэлиты</a:t>
            </a:r>
            <a:r>
              <a:rPr lang="ru-RU" sz="2000" dirty="0">
                <a:cs typeface="Times New Roman" pitchFamily="18" charset="0"/>
              </a:rPr>
              <a:t>» в свою очередь способны создать достойных преемников элитарным элементам. </a:t>
            </a:r>
            <a:endParaRPr lang="ru-RU" sz="2000" dirty="0" smtClean="0"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В. Парето выделял два главных типа элит: «львы» и «лисы».</a:t>
            </a:r>
            <a:endParaRPr lang="ru-RU" sz="2000" dirty="0" smtClean="0"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2760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Теория Роберта </a:t>
            </a:r>
            <a:r>
              <a:rPr lang="ru-RU" b="1" dirty="0" err="1" smtClean="0"/>
              <a:t>Михельса</a:t>
            </a:r>
            <a:r>
              <a:rPr lang="ru-RU" b="1" dirty="0" smtClean="0"/>
              <a:t> </a:t>
            </a:r>
            <a:r>
              <a:rPr lang="ru-RU" sz="2800" b="1" dirty="0" smtClean="0"/>
              <a:t>(1876-1936)</a:t>
            </a:r>
            <a:endParaRPr lang="ru-RU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38200" y="1477818"/>
            <a:ext cx="7899400" cy="5116946"/>
          </a:xfrm>
        </p:spPr>
        <p:txBody>
          <a:bodyPr>
            <a:noAutofit/>
          </a:bodyPr>
          <a:lstStyle/>
          <a:p>
            <a:r>
              <a:rPr lang="ru-RU" sz="1800" dirty="0" smtClean="0"/>
              <a:t>Немецкий социолог, политик. Сформулировал «железный закон олигархии».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 smtClean="0">
                <a:cs typeface="Times New Roman" pitchFamily="18" charset="0"/>
              </a:rPr>
              <a:t>Деление </a:t>
            </a:r>
            <a:r>
              <a:rPr lang="ru-RU" sz="1800" dirty="0">
                <a:cs typeface="Times New Roman" pitchFamily="18" charset="0"/>
              </a:rPr>
              <a:t>общества на пассивное большинство и правящее меньшинство 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>
                <a:cs typeface="Times New Roman" pitchFamily="18" charset="0"/>
              </a:rPr>
              <a:t>Причины невозможности демократии он объяснял тремя следующими тенденциями: одна заложена в сущности человека, другая — в особенностях политической борьбы, а третья — в специфике развития организации. 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>
                <a:cs typeface="Times New Roman" pitchFamily="18" charset="0"/>
              </a:rPr>
              <a:t>Перерастание демократии в олигархию частично объясняется психологией массы </a:t>
            </a:r>
            <a:r>
              <a:rPr lang="ru-RU" sz="1800" dirty="0" smtClean="0">
                <a:cs typeface="Times New Roman" pitchFamily="18" charset="0"/>
              </a:rPr>
              <a:t>Эти </a:t>
            </a:r>
            <a:r>
              <a:rPr lang="ru-RU" sz="1800" dirty="0">
                <a:cs typeface="Times New Roman" pitchFamily="18" charset="0"/>
              </a:rPr>
              <a:t>массы не могут сами управлять делами общества, поэтому необходима организация, которая неизбежно поделит любую группу на властвующих и подвластных. 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>
                <a:cs typeface="Times New Roman" pitchFamily="18" charset="0"/>
              </a:rPr>
              <a:t>Железный закон олигархии — любая форма социальной организации неизбежно вырождается во власть немногих избранных — олигархию.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>
                <a:cs typeface="Times New Roman" pitchFamily="18" charset="0"/>
              </a:rPr>
              <a:t>Причины этого закона: объективная необходимость лидерства, стремление лидеров ставить во главу угла свои собственные интересы, доверие толпы к лидерам и общую пассивность масс.</a:t>
            </a:r>
          </a:p>
          <a:p>
            <a:endParaRPr lang="ru-RU" sz="1800" dirty="0" smtClean="0"/>
          </a:p>
          <a:p>
            <a:endParaRPr lang="ru-RU" sz="1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849" y="1623508"/>
            <a:ext cx="3208896" cy="427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5615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Современные теории элит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Теория элитной демократии (</a:t>
            </a:r>
            <a:r>
              <a:rPr lang="ru-RU" dirty="0" err="1"/>
              <a:t>Р.Даль</a:t>
            </a:r>
            <a:r>
              <a:rPr lang="ru-RU" dirty="0"/>
              <a:t>, </a:t>
            </a:r>
            <a:r>
              <a:rPr lang="ru-RU" dirty="0" err="1"/>
              <a:t>С.Липсет</a:t>
            </a:r>
            <a:r>
              <a:rPr lang="ru-RU" dirty="0"/>
              <a:t>)</a:t>
            </a:r>
            <a:endParaRPr lang="ru-RU" dirty="0" smtClean="0"/>
          </a:p>
          <a:p>
            <a:r>
              <a:rPr lang="ru-RU" dirty="0"/>
              <a:t>Ценностные </a:t>
            </a:r>
            <a:r>
              <a:rPr lang="ru-RU" dirty="0" smtClean="0"/>
              <a:t>теории </a:t>
            </a:r>
            <a:r>
              <a:rPr lang="ru-RU" dirty="0"/>
              <a:t>(</a:t>
            </a:r>
            <a:r>
              <a:rPr lang="ru-RU" dirty="0" err="1"/>
              <a:t>В.Ропке</a:t>
            </a:r>
            <a:r>
              <a:rPr lang="ru-RU" dirty="0"/>
              <a:t>) </a:t>
            </a:r>
            <a:endParaRPr lang="ru-RU" dirty="0" smtClean="0"/>
          </a:p>
          <a:p>
            <a:r>
              <a:rPr lang="ru-RU" dirty="0"/>
              <a:t>Концепции плюрализма элит (</a:t>
            </a:r>
            <a:r>
              <a:rPr lang="ru-RU" dirty="0" err="1"/>
              <a:t>С.Келлер</a:t>
            </a:r>
            <a:r>
              <a:rPr lang="ru-RU" dirty="0"/>
              <a:t>, </a:t>
            </a:r>
            <a:r>
              <a:rPr lang="ru-RU" dirty="0" err="1"/>
              <a:t>О.Штаммер</a:t>
            </a:r>
            <a:r>
              <a:rPr lang="ru-RU" dirty="0"/>
              <a:t>, </a:t>
            </a:r>
            <a:r>
              <a:rPr lang="ru-RU" dirty="0" err="1"/>
              <a:t>Д.Рисмен</a:t>
            </a:r>
            <a:r>
              <a:rPr lang="ru-RU" dirty="0" smtClean="0"/>
              <a:t>)</a:t>
            </a:r>
          </a:p>
          <a:p>
            <a:r>
              <a:rPr lang="ru-RU" dirty="0"/>
              <a:t>Леволиберальные концепции (Р. Миллс</a:t>
            </a:r>
            <a:r>
              <a:rPr lang="ru-RU" dirty="0" smtClean="0"/>
              <a:t>)</a:t>
            </a:r>
          </a:p>
          <a:p>
            <a:r>
              <a:rPr lang="ru-RU" dirty="0" err="1"/>
              <a:t>Партократическая</a:t>
            </a:r>
            <a:r>
              <a:rPr lang="ru-RU" dirty="0"/>
              <a:t> теория элиты </a:t>
            </a:r>
            <a:endParaRPr lang="ru-RU" dirty="0" smtClean="0"/>
          </a:p>
          <a:p>
            <a:endParaRPr lang="ru-RU" b="1" i="1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1069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838200" y="1422400"/>
            <a:ext cx="10515600" cy="4486709"/>
          </a:xfrm>
        </p:spPr>
        <p:txBody>
          <a:bodyPr/>
          <a:lstStyle/>
          <a:p>
            <a:r>
              <a:rPr lang="ru-RU" dirty="0"/>
              <a:t>Понятие «</a:t>
            </a:r>
            <a:r>
              <a:rPr lang="ru-RU" b="1" dirty="0"/>
              <a:t>лидер</a:t>
            </a:r>
            <a:r>
              <a:rPr lang="ru-RU" dirty="0"/>
              <a:t>» происходит от английского «</a:t>
            </a:r>
            <a:r>
              <a:rPr lang="en-US" dirty="0"/>
              <a:t>leader</a:t>
            </a:r>
            <a:r>
              <a:rPr lang="ru-RU" dirty="0"/>
              <a:t>», что означает ведущий, управляющий другими людьми. При рассмотрении понятия «лидер» в политической сфере общества на повестку дня выходит категория «</a:t>
            </a:r>
            <a:r>
              <a:rPr lang="ru-RU" i="1" dirty="0"/>
              <a:t>политический лидер» -</a:t>
            </a:r>
            <a:r>
              <a:rPr lang="ru-RU" dirty="0"/>
              <a:t> личность, способная изменять ход социальных событий и направленность политических процессов.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4017819"/>
            <a:ext cx="4762500" cy="241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04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Теории политического лидерства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Теория </a:t>
            </a:r>
            <a:r>
              <a:rPr lang="ru-RU" dirty="0" smtClean="0"/>
              <a:t>черт</a:t>
            </a:r>
          </a:p>
          <a:p>
            <a:r>
              <a:rPr lang="ru-RU" dirty="0" err="1"/>
              <a:t>Факторно</a:t>
            </a:r>
            <a:r>
              <a:rPr lang="ru-RU" dirty="0"/>
              <a:t>-аналитическая </a:t>
            </a:r>
            <a:r>
              <a:rPr lang="ru-RU" dirty="0" smtClean="0"/>
              <a:t>теория</a:t>
            </a:r>
          </a:p>
          <a:p>
            <a:r>
              <a:rPr lang="ru-RU" dirty="0"/>
              <a:t>Теория </a:t>
            </a:r>
            <a:r>
              <a:rPr lang="ru-RU" dirty="0" err="1" smtClean="0"/>
              <a:t>конституентов</a:t>
            </a:r>
            <a:endParaRPr lang="ru-RU" dirty="0" smtClean="0"/>
          </a:p>
          <a:p>
            <a:r>
              <a:rPr lang="ru-RU" dirty="0" err="1" smtClean="0"/>
              <a:t>ситуаЦионная</a:t>
            </a:r>
            <a:r>
              <a:rPr lang="ru-RU" dirty="0" smtClean="0"/>
              <a:t> теория</a:t>
            </a:r>
            <a:endParaRPr lang="ru-RU" dirty="0" smtClean="0"/>
          </a:p>
          <a:p>
            <a:r>
              <a:rPr lang="ru-RU" dirty="0"/>
              <a:t>Психологическая </a:t>
            </a:r>
            <a:r>
              <a:rPr lang="ru-RU" dirty="0" smtClean="0"/>
              <a:t>теория</a:t>
            </a:r>
          </a:p>
          <a:p>
            <a:r>
              <a:rPr lang="ru-RU" dirty="0" smtClean="0"/>
              <a:t>Социологическая </a:t>
            </a:r>
            <a:r>
              <a:rPr lang="ru-RU" dirty="0" smtClean="0"/>
              <a:t>теория</a:t>
            </a:r>
          </a:p>
          <a:p>
            <a:r>
              <a:rPr lang="ru-RU" dirty="0"/>
              <a:t>Интегративная теория лидерства</a:t>
            </a:r>
          </a:p>
        </p:txBody>
      </p:sp>
    </p:spTree>
    <p:extLst>
      <p:ext uri="{BB962C8B-B14F-4D97-AF65-F5344CB8AC3E}">
        <p14:creationId xmlns:p14="http://schemas.microsoft.com/office/powerpoint/2010/main" val="1984250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Статус </a:t>
            </a:r>
            <a:r>
              <a:rPr lang="ru-RU" b="1" dirty="0"/>
              <a:t>политического лидерства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 smtClean="0"/>
              <a:t>Формально-должностной </a:t>
            </a:r>
          </a:p>
          <a:p>
            <a:r>
              <a:rPr lang="ru-RU" dirty="0"/>
              <a:t>С</a:t>
            </a:r>
            <a:r>
              <a:rPr lang="ru-RU" dirty="0" smtClean="0"/>
              <a:t>убъективный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402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Аспекты определяющие лидерство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 smtClean="0"/>
              <a:t>Личностные </a:t>
            </a:r>
            <a:r>
              <a:rPr lang="ru-RU" dirty="0"/>
              <a:t>черты </a:t>
            </a:r>
            <a:r>
              <a:rPr lang="ru-RU" dirty="0" smtClean="0"/>
              <a:t>лидеров</a:t>
            </a:r>
            <a:r>
              <a:rPr lang="ru-RU" dirty="0"/>
              <a:t> </a:t>
            </a:r>
            <a:endParaRPr lang="ru-RU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</a:t>
            </a:r>
            <a:r>
              <a:rPr lang="ru-RU" dirty="0" smtClean="0"/>
              <a:t>риродные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н</a:t>
            </a:r>
            <a:r>
              <a:rPr lang="ru-RU" dirty="0" smtClean="0"/>
              <a:t>равственные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 smtClean="0"/>
              <a:t>профессиональные</a:t>
            </a:r>
          </a:p>
          <a:p>
            <a:r>
              <a:rPr lang="ru-RU" dirty="0"/>
              <a:t>И</a:t>
            </a:r>
            <a:r>
              <a:rPr lang="ru-RU" dirty="0" smtClean="0"/>
              <a:t>нструменты </a:t>
            </a:r>
            <a:r>
              <a:rPr lang="ru-RU" dirty="0"/>
              <a:t>осуществления ими </a:t>
            </a:r>
            <a:r>
              <a:rPr lang="ru-RU" dirty="0" smtClean="0"/>
              <a:t>власти</a:t>
            </a:r>
          </a:p>
          <a:p>
            <a:r>
              <a:rPr lang="ru-RU" dirty="0"/>
              <a:t>С</a:t>
            </a:r>
            <a:r>
              <a:rPr lang="ru-RU" dirty="0" smtClean="0"/>
              <a:t>итуация</a:t>
            </a:r>
            <a:r>
              <a:rPr lang="ru-RU" dirty="0"/>
              <a:t>, с которой сталкивается </a:t>
            </a:r>
            <a:r>
              <a:rPr lang="ru-RU" dirty="0" smtClean="0"/>
              <a:t>лидер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498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Функции политических лидеров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ru-RU" dirty="0"/>
              <a:t>Аналитическая </a:t>
            </a:r>
            <a:r>
              <a:rPr lang="ru-RU" dirty="0" smtClean="0"/>
              <a:t>функция</a:t>
            </a:r>
          </a:p>
          <a:p>
            <a:r>
              <a:rPr lang="ru-RU" dirty="0"/>
              <a:t>Функция разработки программы </a:t>
            </a:r>
            <a:r>
              <a:rPr lang="ru-RU" dirty="0" smtClean="0"/>
              <a:t>действий</a:t>
            </a:r>
          </a:p>
          <a:p>
            <a:r>
              <a:rPr lang="ru-RU" dirty="0"/>
              <a:t>Функция мобилизации на выполнение принятой </a:t>
            </a:r>
            <a:r>
              <a:rPr lang="ru-RU" dirty="0" smtClean="0"/>
              <a:t>программы</a:t>
            </a:r>
          </a:p>
          <a:p>
            <a:r>
              <a:rPr lang="ru-RU" dirty="0"/>
              <a:t>Новаторская </a:t>
            </a:r>
            <a:r>
              <a:rPr lang="ru-RU" dirty="0" smtClean="0"/>
              <a:t>функция</a:t>
            </a:r>
          </a:p>
          <a:p>
            <a:r>
              <a:rPr lang="ru-RU" dirty="0"/>
              <a:t>Координационная </a:t>
            </a:r>
            <a:r>
              <a:rPr lang="ru-RU" dirty="0" smtClean="0"/>
              <a:t>функция</a:t>
            </a:r>
          </a:p>
          <a:p>
            <a:r>
              <a:rPr lang="ru-RU" dirty="0"/>
              <a:t>Интегративная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2425548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06764"/>
            <a:ext cx="10515600" cy="683924"/>
          </a:xfrm>
        </p:spPr>
        <p:txBody>
          <a:bodyPr>
            <a:normAutofit fontScale="90000"/>
          </a:bodyPr>
          <a:lstStyle/>
          <a:p>
            <a:pPr lvl="0" algn="ctr"/>
            <a:r>
              <a:rPr lang="ru-RU" sz="4900" b="1" dirty="0"/>
              <a:t>Типология политических лидеров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 стилю руководства</a:t>
            </a:r>
          </a:p>
          <a:p>
            <a:r>
              <a:rPr lang="ru-RU" dirty="0"/>
              <a:t>авторитарный </a:t>
            </a:r>
            <a:r>
              <a:rPr lang="ru-RU" dirty="0" smtClean="0"/>
              <a:t>стиль</a:t>
            </a:r>
          </a:p>
          <a:p>
            <a:r>
              <a:rPr lang="ru-RU" dirty="0"/>
              <a:t>демократический </a:t>
            </a:r>
            <a:r>
              <a:rPr lang="ru-RU" dirty="0" smtClean="0"/>
              <a:t>стиль</a:t>
            </a:r>
          </a:p>
          <a:p>
            <a:r>
              <a:rPr lang="ru-RU" dirty="0"/>
              <a:t>попустительский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2320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Типология политических лидеров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 форме влияния</a:t>
            </a:r>
            <a:endParaRPr lang="ru-RU" dirty="0" smtClean="0"/>
          </a:p>
          <a:p>
            <a:r>
              <a:rPr lang="ru-RU" dirty="0"/>
              <a:t>ф</a:t>
            </a:r>
            <a:r>
              <a:rPr lang="ru-RU" dirty="0" smtClean="0"/>
              <a:t>ормальное</a:t>
            </a:r>
          </a:p>
          <a:p>
            <a:r>
              <a:rPr lang="ru-RU" dirty="0" smtClean="0"/>
              <a:t>неформальное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597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Типология политических лидеров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 целям, </a:t>
            </a:r>
            <a:r>
              <a:rPr lang="ru-RU" dirty="0"/>
              <a:t>которые они ставят, и </a:t>
            </a:r>
            <a:r>
              <a:rPr lang="ru-RU" dirty="0" smtClean="0"/>
              <a:t>воздействию, оказываемому </a:t>
            </a:r>
            <a:r>
              <a:rPr lang="ru-RU" dirty="0"/>
              <a:t>ими на </a:t>
            </a:r>
            <a:r>
              <a:rPr lang="ru-RU" dirty="0" smtClean="0"/>
              <a:t>общество</a:t>
            </a:r>
          </a:p>
          <a:p>
            <a:r>
              <a:rPr lang="ru-RU" dirty="0"/>
              <a:t>к</a:t>
            </a:r>
            <a:r>
              <a:rPr lang="ru-RU" dirty="0" smtClean="0"/>
              <a:t>онсерваторы</a:t>
            </a:r>
          </a:p>
          <a:p>
            <a:r>
              <a:rPr lang="ru-RU" dirty="0"/>
              <a:t>р</a:t>
            </a:r>
            <a:r>
              <a:rPr lang="ru-RU" dirty="0" smtClean="0"/>
              <a:t>еформаторы</a:t>
            </a:r>
          </a:p>
          <a:p>
            <a:r>
              <a:rPr lang="ru-RU" dirty="0" smtClean="0"/>
              <a:t>революционеры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10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Типология политических лидеров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 законности власти (</a:t>
            </a:r>
            <a:r>
              <a:rPr lang="ru-RU" dirty="0" err="1" smtClean="0"/>
              <a:t>М.Вебер</a:t>
            </a:r>
            <a:r>
              <a:rPr lang="ru-RU" dirty="0" smtClean="0"/>
              <a:t>)</a:t>
            </a:r>
          </a:p>
          <a:p>
            <a:r>
              <a:rPr lang="ru-RU" dirty="0" smtClean="0"/>
              <a:t>традиционное лидерство</a:t>
            </a:r>
            <a:endParaRPr lang="ru-RU" dirty="0"/>
          </a:p>
          <a:p>
            <a:r>
              <a:rPr lang="ru-RU" dirty="0"/>
              <a:t>р</a:t>
            </a:r>
            <a:r>
              <a:rPr lang="ru-RU" dirty="0" smtClean="0"/>
              <a:t>ациональное </a:t>
            </a:r>
            <a:r>
              <a:rPr lang="ru-RU" dirty="0"/>
              <a:t>лидерство </a:t>
            </a:r>
            <a:endParaRPr lang="ru-RU" dirty="0" smtClean="0"/>
          </a:p>
          <a:p>
            <a:r>
              <a:rPr lang="ru-RU" dirty="0"/>
              <a:t>х</a:t>
            </a:r>
            <a:r>
              <a:rPr lang="ru-RU" dirty="0" smtClean="0"/>
              <a:t>аризматическое </a:t>
            </a:r>
            <a:r>
              <a:rPr lang="ru-RU" dirty="0"/>
              <a:t>лидерство</a:t>
            </a:r>
          </a:p>
        </p:txBody>
      </p:sp>
    </p:spTree>
    <p:extLst>
      <p:ext uri="{BB962C8B-B14F-4D97-AF65-F5344CB8AC3E}">
        <p14:creationId xmlns:p14="http://schemas.microsoft.com/office/powerpoint/2010/main" val="50756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Типология политических лидеров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На основе </a:t>
            </a:r>
            <a:r>
              <a:rPr lang="ru-RU" dirty="0"/>
              <a:t>комплекса </a:t>
            </a:r>
            <a:r>
              <a:rPr lang="ru-RU" dirty="0" smtClean="0"/>
              <a:t>характеристик (М. </a:t>
            </a:r>
            <a:r>
              <a:rPr lang="ru-RU" dirty="0" err="1" smtClean="0"/>
              <a:t>Херманн</a:t>
            </a:r>
            <a:r>
              <a:rPr lang="ru-RU" dirty="0" smtClean="0"/>
              <a:t>)</a:t>
            </a:r>
          </a:p>
          <a:p>
            <a:r>
              <a:rPr lang="ru-RU" dirty="0" smtClean="0"/>
              <a:t>лидер </a:t>
            </a:r>
            <a:r>
              <a:rPr lang="ru-RU" dirty="0"/>
              <a:t>- «знаменосец</a:t>
            </a:r>
            <a:r>
              <a:rPr lang="ru-RU" dirty="0" smtClean="0"/>
              <a:t>»</a:t>
            </a:r>
          </a:p>
          <a:p>
            <a:r>
              <a:rPr lang="ru-RU" dirty="0" smtClean="0"/>
              <a:t>лидер </a:t>
            </a:r>
            <a:r>
              <a:rPr lang="ru-RU" dirty="0"/>
              <a:t>- «служитель</a:t>
            </a:r>
            <a:r>
              <a:rPr lang="ru-RU" dirty="0" smtClean="0"/>
              <a:t>»</a:t>
            </a:r>
          </a:p>
          <a:p>
            <a:r>
              <a:rPr lang="ru-RU" dirty="0" smtClean="0"/>
              <a:t>лидер </a:t>
            </a:r>
            <a:r>
              <a:rPr lang="ru-RU" dirty="0"/>
              <a:t>- «торговец» </a:t>
            </a:r>
            <a:endParaRPr lang="ru-RU" dirty="0" smtClean="0"/>
          </a:p>
          <a:p>
            <a:r>
              <a:rPr lang="ru-RU" dirty="0" smtClean="0"/>
              <a:t>лидер </a:t>
            </a:r>
            <a:r>
              <a:rPr lang="ru-RU" dirty="0"/>
              <a:t>- «пожарный»</a:t>
            </a:r>
          </a:p>
        </p:txBody>
      </p:sp>
    </p:spTree>
    <p:extLst>
      <p:ext uri="{BB962C8B-B14F-4D97-AF65-F5344CB8AC3E}">
        <p14:creationId xmlns:p14="http://schemas.microsoft.com/office/powerpoint/2010/main" val="2284750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Типология политических лидеров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Основанная </a:t>
            </a:r>
            <a:r>
              <a:rPr lang="ru-RU" dirty="0"/>
              <a:t>на доминирующей функции </a:t>
            </a:r>
            <a:r>
              <a:rPr lang="ru-RU" dirty="0" smtClean="0"/>
              <a:t>лидера (Г. </a:t>
            </a:r>
            <a:r>
              <a:rPr lang="ru-RU" dirty="0" err="1" smtClean="0"/>
              <a:t>Лассуэлл</a:t>
            </a:r>
            <a:r>
              <a:rPr lang="ru-RU" dirty="0" smtClean="0"/>
              <a:t>)</a:t>
            </a:r>
          </a:p>
          <a:p>
            <a:r>
              <a:rPr lang="ru-RU" dirty="0" smtClean="0"/>
              <a:t>лидер-идеолог </a:t>
            </a:r>
          </a:p>
          <a:p>
            <a:r>
              <a:rPr lang="ru-RU" dirty="0" smtClean="0"/>
              <a:t>лидер-агитатор</a:t>
            </a:r>
          </a:p>
          <a:p>
            <a:r>
              <a:rPr lang="ru-RU" dirty="0" smtClean="0"/>
              <a:t>лидер-организатор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4042834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344</TotalTime>
  <Words>944</Words>
  <Application>Microsoft Office PowerPoint</Application>
  <PresentationFormat>Широкоэкранный</PresentationFormat>
  <Paragraphs>110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Times New Roman</vt:lpstr>
      <vt:lpstr>Tw Cen MT</vt:lpstr>
      <vt:lpstr>Wingdings</vt:lpstr>
      <vt:lpstr>Капля</vt:lpstr>
      <vt:lpstr>ПОЛИТИЧЕСКАЯ ЭЛИТА И ПОЛИТИЧЕСКОЕ ЛИДЕРСТВО </vt:lpstr>
      <vt:lpstr>Презентация PowerPoint</vt:lpstr>
      <vt:lpstr>Презентация PowerPoint</vt:lpstr>
      <vt:lpstr>Презентация PowerPoint</vt:lpstr>
      <vt:lpstr>Презентация PowerPoint</vt:lpstr>
      <vt:lpstr>Системы рекрутирования элиты</vt:lpstr>
      <vt:lpstr>Современная элита делится на четыре группы:</vt:lpstr>
      <vt:lpstr>Функции политической элиты</vt:lpstr>
      <vt:lpstr>Теория элит </vt:lpstr>
      <vt:lpstr>Теория Никколо Макиавелли (1469—1527)</vt:lpstr>
      <vt:lpstr>Теория Гаэтано Моска (1858—1941)</vt:lpstr>
      <vt:lpstr>Теория Вильфредо Парето (1848-1923)</vt:lpstr>
      <vt:lpstr>Теория Роберта Михельса (1876-1936)</vt:lpstr>
      <vt:lpstr>Современные теории элит</vt:lpstr>
      <vt:lpstr>Презентация PowerPoint</vt:lpstr>
      <vt:lpstr>Теории политического лидерства</vt:lpstr>
      <vt:lpstr>Статус политического лидерства</vt:lpstr>
      <vt:lpstr>Аспекты определяющие лидерство</vt:lpstr>
      <vt:lpstr>Функции политических лидеров</vt:lpstr>
      <vt:lpstr>Типология политических лидеров </vt:lpstr>
      <vt:lpstr>Типология политических лидеров</vt:lpstr>
      <vt:lpstr>Типология политических лидеров</vt:lpstr>
      <vt:lpstr>Типология политических лидеров</vt:lpstr>
      <vt:lpstr>Типология политических лидеров</vt:lpstr>
      <vt:lpstr>Типология политических лидеров</vt:lpstr>
    </vt:vector>
  </TitlesOfParts>
  <Company>UralSOFT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ПОЛИТИЧЕСКАЯ ЭЛИТА И ПОЛИТИЧЕСКОЕ ЛИДЕРСТВО</dc:title>
  <dc:creator>Пользователь Windows</dc:creator>
  <cp:lastModifiedBy>Пользователь Windows</cp:lastModifiedBy>
  <cp:revision>21</cp:revision>
  <dcterms:created xsi:type="dcterms:W3CDTF">2020-04-26T12:27:07Z</dcterms:created>
  <dcterms:modified xsi:type="dcterms:W3CDTF">2020-04-27T12:54:38Z</dcterms:modified>
</cp:coreProperties>
</file>