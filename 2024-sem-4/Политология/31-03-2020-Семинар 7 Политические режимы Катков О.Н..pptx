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8BB206-E8D5-4FE4-860D-3A6F5AE3BAA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</dgm:pt>
    <dgm:pt modelId="{FF83A36C-3460-400E-989D-9F4D4E03BC3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gm:t>
    </dgm:pt>
    <dgm:pt modelId="{C34FB593-3359-4103-9CDC-0D96A08D9BA5}" type="parTrans" cxnId="{C03F82A5-255D-406C-A8EE-3B5363F8FC32}">
      <dgm:prSet/>
      <dgm:spPr/>
      <dgm:t>
        <a:bodyPr/>
        <a:lstStyle/>
        <a:p>
          <a:endParaRPr lang="ru-RU"/>
        </a:p>
      </dgm:t>
    </dgm:pt>
    <dgm:pt modelId="{88578646-6226-41FE-95ED-B7A3D32D03F4}" type="sibTrans" cxnId="{C03F82A5-255D-406C-A8EE-3B5363F8FC32}">
      <dgm:prSet/>
      <dgm:spPr/>
      <dgm:t>
        <a:bodyPr/>
        <a:lstStyle/>
        <a:p>
          <a:endParaRPr lang="ru-RU"/>
        </a:p>
      </dgm:t>
    </dgm:pt>
    <dgm:pt modelId="{DB3DB636-B526-4003-A0A5-933DED3D6D3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gm:t>
    </dgm:pt>
    <dgm:pt modelId="{C84F0390-871A-44E3-9C87-3B7975EDC06A}" type="parTrans" cxnId="{3DB68BB2-404A-43E5-AA00-0575AF5B4275}">
      <dgm:prSet/>
      <dgm:spPr/>
      <dgm:t>
        <a:bodyPr/>
        <a:lstStyle/>
        <a:p>
          <a:endParaRPr lang="ru-RU"/>
        </a:p>
      </dgm:t>
    </dgm:pt>
    <dgm:pt modelId="{FCB25679-BE66-4A7E-B7F2-3D93C79D0E3D}" type="sibTrans" cxnId="{3DB68BB2-404A-43E5-AA00-0575AF5B4275}">
      <dgm:prSet/>
      <dgm:spPr/>
      <dgm:t>
        <a:bodyPr/>
        <a:lstStyle/>
        <a:p>
          <a:endParaRPr lang="ru-RU"/>
        </a:p>
      </dgm:t>
    </dgm:pt>
    <dgm:pt modelId="{F5F9991B-D6EE-4CC9-B804-60404FCAFFC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gm:t>
    </dgm:pt>
    <dgm:pt modelId="{6BD95FC1-C0E0-4B11-ADB7-CDF71121DDA1}" type="parTrans" cxnId="{DB72A4E3-C9C7-42CA-B465-86440A516093}">
      <dgm:prSet/>
      <dgm:spPr/>
      <dgm:t>
        <a:bodyPr/>
        <a:lstStyle/>
        <a:p>
          <a:endParaRPr lang="ru-RU"/>
        </a:p>
      </dgm:t>
    </dgm:pt>
    <dgm:pt modelId="{B0EC60D7-A319-484F-8566-71E8E2417303}" type="sibTrans" cxnId="{DB72A4E3-C9C7-42CA-B465-86440A516093}">
      <dgm:prSet/>
      <dgm:spPr/>
      <dgm:t>
        <a:bodyPr/>
        <a:lstStyle/>
        <a:p>
          <a:endParaRPr lang="ru-RU"/>
        </a:p>
      </dgm:t>
    </dgm:pt>
    <dgm:pt modelId="{55E7C2DA-9F93-49BB-853E-5876EB72A21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gm:t>
    </dgm:pt>
    <dgm:pt modelId="{823A54A5-9697-4C55-8DEF-20577F52F95F}" type="parTrans" cxnId="{341D47C7-60A2-4455-85F2-71BE98D80A85}">
      <dgm:prSet/>
      <dgm:spPr/>
      <dgm:t>
        <a:bodyPr/>
        <a:lstStyle/>
        <a:p>
          <a:endParaRPr lang="ru-RU"/>
        </a:p>
      </dgm:t>
    </dgm:pt>
    <dgm:pt modelId="{21578617-6A77-4157-ABBE-B6679E4DD6F5}" type="sibTrans" cxnId="{341D47C7-60A2-4455-85F2-71BE98D80A85}">
      <dgm:prSet/>
      <dgm:spPr/>
      <dgm:t>
        <a:bodyPr/>
        <a:lstStyle/>
        <a:p>
          <a:endParaRPr lang="ru-RU"/>
        </a:p>
      </dgm:t>
    </dgm:pt>
    <dgm:pt modelId="{50CB0D54-6C80-4784-A78B-1991C36A7F7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gm:t>
    </dgm:pt>
    <dgm:pt modelId="{DC83FDF0-42DC-48B8-9F48-6EC50698FFE4}" type="parTrans" cxnId="{34274523-F31A-4BC9-ADC4-D2EA1E002FEA}">
      <dgm:prSet/>
      <dgm:spPr/>
      <dgm:t>
        <a:bodyPr/>
        <a:lstStyle/>
        <a:p>
          <a:endParaRPr lang="ru-RU"/>
        </a:p>
      </dgm:t>
    </dgm:pt>
    <dgm:pt modelId="{216156CC-EACD-4231-AF39-EAA3B7C45899}" type="sibTrans" cxnId="{34274523-F31A-4BC9-ADC4-D2EA1E002FEA}">
      <dgm:prSet/>
      <dgm:spPr/>
      <dgm:t>
        <a:bodyPr/>
        <a:lstStyle/>
        <a:p>
          <a:endParaRPr lang="ru-RU"/>
        </a:p>
      </dgm:t>
    </dgm:pt>
    <dgm:pt modelId="{F39F8CBA-FB0E-47DD-9B8C-E2F7430F4742}" type="pres">
      <dgm:prSet presAssocID="{7E8BB206-E8D5-4FE4-860D-3A6F5AE3BAA4}" presName="compositeShape" presStyleCnt="0">
        <dgm:presLayoutVars>
          <dgm:chMax val="7"/>
          <dgm:dir/>
          <dgm:resizeHandles val="exact"/>
        </dgm:presLayoutVars>
      </dgm:prSet>
      <dgm:spPr/>
    </dgm:pt>
    <dgm:pt modelId="{17E340E8-A657-48D7-B33B-4E351582CDC3}" type="pres">
      <dgm:prSet presAssocID="{FF83A36C-3460-400E-989D-9F4D4E03BC3F}" presName="circ1" presStyleLbl="vennNode1" presStyleIdx="0" presStyleCnt="5"/>
      <dgm:spPr/>
    </dgm:pt>
    <dgm:pt modelId="{395203A1-48FD-4D90-82DA-5967B9D8C462}" type="pres">
      <dgm:prSet presAssocID="{FF83A36C-3460-400E-989D-9F4D4E03BC3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92D0C3-111F-450E-AB51-CDE082AD1A0D}" type="pres">
      <dgm:prSet presAssocID="{DB3DB636-B526-4003-A0A5-933DED3D6D35}" presName="circ2" presStyleLbl="vennNode1" presStyleIdx="1" presStyleCnt="5"/>
      <dgm:spPr/>
    </dgm:pt>
    <dgm:pt modelId="{71C8A903-9333-42FF-A4C7-E9F3B848C8BD}" type="pres">
      <dgm:prSet presAssocID="{DB3DB636-B526-4003-A0A5-933DED3D6D3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A76F8E-7202-482D-B2AD-164565C14323}" type="pres">
      <dgm:prSet presAssocID="{F5F9991B-D6EE-4CC9-B804-60404FCAFFCE}" presName="circ3" presStyleLbl="vennNode1" presStyleIdx="2" presStyleCnt="5"/>
      <dgm:spPr/>
    </dgm:pt>
    <dgm:pt modelId="{B1F76043-A903-413A-AE5B-E3202ADE18CD}" type="pres">
      <dgm:prSet presAssocID="{F5F9991B-D6EE-4CC9-B804-60404FCAFFC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740E38-548E-4A72-BD8E-B5ACB18CAA9E}" type="pres">
      <dgm:prSet presAssocID="{55E7C2DA-9F93-49BB-853E-5876EB72A216}" presName="circ4" presStyleLbl="vennNode1" presStyleIdx="3" presStyleCnt="5"/>
      <dgm:spPr/>
    </dgm:pt>
    <dgm:pt modelId="{EA17185B-F2EF-4624-89C0-DEA5D1000976}" type="pres">
      <dgm:prSet presAssocID="{55E7C2DA-9F93-49BB-853E-5876EB72A21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BCFE37-9FC1-4354-9562-19615ED74754}" type="pres">
      <dgm:prSet presAssocID="{50CB0D54-6C80-4784-A78B-1991C36A7F7F}" presName="circ5" presStyleLbl="vennNode1" presStyleIdx="4" presStyleCnt="5"/>
      <dgm:spPr/>
    </dgm:pt>
    <dgm:pt modelId="{6148782C-853E-4547-A1A3-E8C1B6A0FA0C}" type="pres">
      <dgm:prSet presAssocID="{50CB0D54-6C80-4784-A78B-1991C36A7F7F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6B5D9EF-608A-4299-96A2-421F8E94306E}" type="presOf" srcId="{F5F9991B-D6EE-4CC9-B804-60404FCAFFCE}" destId="{B1F76043-A903-413A-AE5B-E3202ADE18CD}" srcOrd="0" destOrd="0" presId="urn:microsoft.com/office/officeart/2005/8/layout/venn1"/>
    <dgm:cxn modelId="{3DB68BB2-404A-43E5-AA00-0575AF5B4275}" srcId="{7E8BB206-E8D5-4FE4-860D-3A6F5AE3BAA4}" destId="{DB3DB636-B526-4003-A0A5-933DED3D6D35}" srcOrd="1" destOrd="0" parTransId="{C84F0390-871A-44E3-9C87-3B7975EDC06A}" sibTransId="{FCB25679-BE66-4A7E-B7F2-3D93C79D0E3D}"/>
    <dgm:cxn modelId="{7728149D-26FC-4DB9-B9A1-2DBE8CECD16B}" type="presOf" srcId="{50CB0D54-6C80-4784-A78B-1991C36A7F7F}" destId="{6148782C-853E-4547-A1A3-E8C1B6A0FA0C}" srcOrd="0" destOrd="0" presId="urn:microsoft.com/office/officeart/2005/8/layout/venn1"/>
    <dgm:cxn modelId="{9BA2C308-7AB6-47B2-A9B1-219C92263C3F}" type="presOf" srcId="{55E7C2DA-9F93-49BB-853E-5876EB72A216}" destId="{EA17185B-F2EF-4624-89C0-DEA5D1000976}" srcOrd="0" destOrd="0" presId="urn:microsoft.com/office/officeart/2005/8/layout/venn1"/>
    <dgm:cxn modelId="{341D47C7-60A2-4455-85F2-71BE98D80A85}" srcId="{7E8BB206-E8D5-4FE4-860D-3A6F5AE3BAA4}" destId="{55E7C2DA-9F93-49BB-853E-5876EB72A216}" srcOrd="3" destOrd="0" parTransId="{823A54A5-9697-4C55-8DEF-20577F52F95F}" sibTransId="{21578617-6A77-4157-ABBE-B6679E4DD6F5}"/>
    <dgm:cxn modelId="{4DF64F98-ECC5-4546-BBD4-0CAED8DE020A}" type="presOf" srcId="{FF83A36C-3460-400E-989D-9F4D4E03BC3F}" destId="{395203A1-48FD-4D90-82DA-5967B9D8C462}" srcOrd="0" destOrd="0" presId="urn:microsoft.com/office/officeart/2005/8/layout/venn1"/>
    <dgm:cxn modelId="{DB72A4E3-C9C7-42CA-B465-86440A516093}" srcId="{7E8BB206-E8D5-4FE4-860D-3A6F5AE3BAA4}" destId="{F5F9991B-D6EE-4CC9-B804-60404FCAFFCE}" srcOrd="2" destOrd="0" parTransId="{6BD95FC1-C0E0-4B11-ADB7-CDF71121DDA1}" sibTransId="{B0EC60D7-A319-484F-8566-71E8E2417303}"/>
    <dgm:cxn modelId="{CA94A3A9-E4B1-4C72-BB31-2BF48CFC34E4}" type="presOf" srcId="{7E8BB206-E8D5-4FE4-860D-3A6F5AE3BAA4}" destId="{F39F8CBA-FB0E-47DD-9B8C-E2F7430F4742}" srcOrd="0" destOrd="0" presId="urn:microsoft.com/office/officeart/2005/8/layout/venn1"/>
    <dgm:cxn modelId="{34274523-F31A-4BC9-ADC4-D2EA1E002FEA}" srcId="{7E8BB206-E8D5-4FE4-860D-3A6F5AE3BAA4}" destId="{50CB0D54-6C80-4784-A78B-1991C36A7F7F}" srcOrd="4" destOrd="0" parTransId="{DC83FDF0-42DC-48B8-9F48-6EC50698FFE4}" sibTransId="{216156CC-EACD-4231-AF39-EAA3B7C45899}"/>
    <dgm:cxn modelId="{63B07FC3-660C-4EEF-A8F4-0D196024B34E}" type="presOf" srcId="{DB3DB636-B526-4003-A0A5-933DED3D6D35}" destId="{71C8A903-9333-42FF-A4C7-E9F3B848C8BD}" srcOrd="0" destOrd="0" presId="urn:microsoft.com/office/officeart/2005/8/layout/venn1"/>
    <dgm:cxn modelId="{C03F82A5-255D-406C-A8EE-3B5363F8FC32}" srcId="{7E8BB206-E8D5-4FE4-860D-3A6F5AE3BAA4}" destId="{FF83A36C-3460-400E-989D-9F4D4E03BC3F}" srcOrd="0" destOrd="0" parTransId="{C34FB593-3359-4103-9CDC-0D96A08D9BA5}" sibTransId="{88578646-6226-41FE-95ED-B7A3D32D03F4}"/>
    <dgm:cxn modelId="{DD3DA652-09E7-447B-A9CF-9519B87D666F}" type="presParOf" srcId="{F39F8CBA-FB0E-47DD-9B8C-E2F7430F4742}" destId="{17E340E8-A657-48D7-B33B-4E351582CDC3}" srcOrd="0" destOrd="0" presId="urn:microsoft.com/office/officeart/2005/8/layout/venn1"/>
    <dgm:cxn modelId="{20E55608-5464-40FC-8ADF-47301321DD44}" type="presParOf" srcId="{F39F8CBA-FB0E-47DD-9B8C-E2F7430F4742}" destId="{395203A1-48FD-4D90-82DA-5967B9D8C462}" srcOrd="1" destOrd="0" presId="urn:microsoft.com/office/officeart/2005/8/layout/venn1"/>
    <dgm:cxn modelId="{A6B65355-8E3B-4CAB-B879-72C8BA44A26E}" type="presParOf" srcId="{F39F8CBA-FB0E-47DD-9B8C-E2F7430F4742}" destId="{5C92D0C3-111F-450E-AB51-CDE082AD1A0D}" srcOrd="2" destOrd="0" presId="urn:microsoft.com/office/officeart/2005/8/layout/venn1"/>
    <dgm:cxn modelId="{A9CD3E6A-8E54-4F7F-A1E2-1E660D1CC14F}" type="presParOf" srcId="{F39F8CBA-FB0E-47DD-9B8C-E2F7430F4742}" destId="{71C8A903-9333-42FF-A4C7-E9F3B848C8BD}" srcOrd="3" destOrd="0" presId="urn:microsoft.com/office/officeart/2005/8/layout/venn1"/>
    <dgm:cxn modelId="{82609E31-C54A-435F-AFE6-160F5E5FE912}" type="presParOf" srcId="{F39F8CBA-FB0E-47DD-9B8C-E2F7430F4742}" destId="{11A76F8E-7202-482D-B2AD-164565C14323}" srcOrd="4" destOrd="0" presId="urn:microsoft.com/office/officeart/2005/8/layout/venn1"/>
    <dgm:cxn modelId="{2CE22979-508E-4868-A084-8F0A0C48CD19}" type="presParOf" srcId="{F39F8CBA-FB0E-47DD-9B8C-E2F7430F4742}" destId="{B1F76043-A903-413A-AE5B-E3202ADE18CD}" srcOrd="5" destOrd="0" presId="urn:microsoft.com/office/officeart/2005/8/layout/venn1"/>
    <dgm:cxn modelId="{1D22D399-627C-443A-99B6-49B4CB4CA6A4}" type="presParOf" srcId="{F39F8CBA-FB0E-47DD-9B8C-E2F7430F4742}" destId="{C1740E38-548E-4A72-BD8E-B5ACB18CAA9E}" srcOrd="6" destOrd="0" presId="urn:microsoft.com/office/officeart/2005/8/layout/venn1"/>
    <dgm:cxn modelId="{16E66DF8-B2C2-401A-B53A-AF5D3E23E12B}" type="presParOf" srcId="{F39F8CBA-FB0E-47DD-9B8C-E2F7430F4742}" destId="{EA17185B-F2EF-4624-89C0-DEA5D1000976}" srcOrd="7" destOrd="0" presId="urn:microsoft.com/office/officeart/2005/8/layout/venn1"/>
    <dgm:cxn modelId="{AC2FEB19-64DF-408F-92AD-8377FCC0DFB5}" type="presParOf" srcId="{F39F8CBA-FB0E-47DD-9B8C-E2F7430F4742}" destId="{4ABCFE37-9FC1-4354-9562-19615ED74754}" srcOrd="8" destOrd="0" presId="urn:microsoft.com/office/officeart/2005/8/layout/venn1"/>
    <dgm:cxn modelId="{B37EE756-C091-41CF-80DA-7844D1E4A2E3}" type="presParOf" srcId="{F39F8CBA-FB0E-47DD-9B8C-E2F7430F4742}" destId="{6148782C-853E-4547-A1A3-E8C1B6A0FA0C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340E8-A657-48D7-B33B-4E351582CDC3}">
      <dsp:nvSpPr>
        <dsp:cNvPr id="0" name=""/>
        <dsp:cNvSpPr/>
      </dsp:nvSpPr>
      <dsp:spPr>
        <a:xfrm>
          <a:off x="1727001" y="1426351"/>
          <a:ext cx="1151334" cy="11513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95203A1-48FD-4D90-82DA-5967B9D8C462}">
      <dsp:nvSpPr>
        <dsp:cNvPr id="0" name=""/>
        <dsp:cNvSpPr/>
      </dsp:nvSpPr>
      <dsp:spPr>
        <a:xfrm>
          <a:off x="1634894" y="488836"/>
          <a:ext cx="1335548" cy="7730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50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sp:txBody>
      <dsp:txXfrm>
        <a:off x="1634894" y="488836"/>
        <a:ext cx="1335548" cy="773038"/>
      </dsp:txXfrm>
    </dsp:sp>
    <dsp:sp modelId="{5C92D0C3-111F-450E-AB51-CDE082AD1A0D}">
      <dsp:nvSpPr>
        <dsp:cNvPr id="0" name=""/>
        <dsp:cNvSpPr/>
      </dsp:nvSpPr>
      <dsp:spPr>
        <a:xfrm>
          <a:off x="2164969" y="1744448"/>
          <a:ext cx="1151334" cy="11513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1C8A903-9333-42FF-A4C7-E9F3B848C8BD}">
      <dsp:nvSpPr>
        <dsp:cNvPr id="0" name=""/>
        <dsp:cNvSpPr/>
      </dsp:nvSpPr>
      <dsp:spPr>
        <a:xfrm>
          <a:off x="3407950" y="1508589"/>
          <a:ext cx="1197387" cy="83882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54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sp:txBody>
      <dsp:txXfrm>
        <a:off x="3407950" y="1508589"/>
        <a:ext cx="1197387" cy="838829"/>
      </dsp:txXfrm>
    </dsp:sp>
    <dsp:sp modelId="{11A76F8E-7202-482D-B2AD-164565C14323}">
      <dsp:nvSpPr>
        <dsp:cNvPr id="0" name=""/>
        <dsp:cNvSpPr/>
      </dsp:nvSpPr>
      <dsp:spPr>
        <a:xfrm>
          <a:off x="1997795" y="2259588"/>
          <a:ext cx="1151334" cy="11513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1F76043-A903-413A-AE5B-E3202ADE18CD}">
      <dsp:nvSpPr>
        <dsp:cNvPr id="0" name=""/>
        <dsp:cNvSpPr/>
      </dsp:nvSpPr>
      <dsp:spPr>
        <a:xfrm>
          <a:off x="3223736" y="2939534"/>
          <a:ext cx="1197387" cy="83882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54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sp:txBody>
      <dsp:txXfrm>
        <a:off x="3223736" y="2939534"/>
        <a:ext cx="1197387" cy="838829"/>
      </dsp:txXfrm>
    </dsp:sp>
    <dsp:sp modelId="{C1740E38-548E-4A72-BD8E-B5ACB18CAA9E}">
      <dsp:nvSpPr>
        <dsp:cNvPr id="0" name=""/>
        <dsp:cNvSpPr/>
      </dsp:nvSpPr>
      <dsp:spPr>
        <a:xfrm>
          <a:off x="1456207" y="2259588"/>
          <a:ext cx="1151334" cy="11513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A17185B-F2EF-4624-89C0-DEA5D1000976}">
      <dsp:nvSpPr>
        <dsp:cNvPr id="0" name=""/>
        <dsp:cNvSpPr/>
      </dsp:nvSpPr>
      <dsp:spPr>
        <a:xfrm>
          <a:off x="184213" y="2939534"/>
          <a:ext cx="1197387" cy="83882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54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sp:txBody>
      <dsp:txXfrm>
        <a:off x="184213" y="2939534"/>
        <a:ext cx="1197387" cy="838829"/>
      </dsp:txXfrm>
    </dsp:sp>
    <dsp:sp modelId="{4ABCFE37-9FC1-4354-9562-19615ED74754}">
      <dsp:nvSpPr>
        <dsp:cNvPr id="0" name=""/>
        <dsp:cNvSpPr/>
      </dsp:nvSpPr>
      <dsp:spPr>
        <a:xfrm>
          <a:off x="1289034" y="1744448"/>
          <a:ext cx="1151334" cy="11513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148782C-853E-4547-A1A3-E8C1B6A0FA0C}">
      <dsp:nvSpPr>
        <dsp:cNvPr id="0" name=""/>
        <dsp:cNvSpPr/>
      </dsp:nvSpPr>
      <dsp:spPr>
        <a:xfrm>
          <a:off x="0" y="1508589"/>
          <a:ext cx="1197387" cy="83882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54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endParaRPr>
        </a:p>
      </dsp:txBody>
      <dsp:txXfrm>
        <a:off x="0" y="1508589"/>
        <a:ext cx="1197387" cy="838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CE67E64F-0AC4-402C-BF7A-C9E0473D33E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407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484784"/>
            <a:ext cx="7772400" cy="1470025"/>
          </a:xfrm>
        </p:spPr>
        <p:txBody>
          <a:bodyPr>
            <a:normAutofit/>
          </a:bodyPr>
          <a:lstStyle/>
          <a:p>
            <a:pPr algn="r"/>
            <a:r>
              <a:rPr lang="ru-RU" sz="2000" dirty="0" smtClean="0"/>
              <a:t>Политология (семинар №7)</a:t>
            </a:r>
            <a:endParaRPr lang="ru-RU" sz="2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2996952"/>
            <a:ext cx="6400800" cy="1752600"/>
          </a:xfrm>
        </p:spPr>
        <p:txBody>
          <a:bodyPr>
            <a:normAutofit/>
          </a:bodyPr>
          <a:lstStyle/>
          <a:p>
            <a:r>
              <a:rPr lang="ru-RU" sz="4300" dirty="0" smtClean="0">
                <a:solidFill>
                  <a:srgbClr val="C00000"/>
                </a:solidFill>
              </a:rPr>
              <a:t>Политические режимы и их типология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789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E8DF-488A-411B-A2E5-4A2C85D57CFB}" type="slidenum">
              <a:rPr lang="ru-RU" altLang="ru-RU"/>
              <a:pPr/>
              <a:t>2</a:t>
            </a:fld>
            <a:endParaRPr lang="ru-RU" altLang="ru-RU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ru-RU" altLang="ru-RU" sz="2000" dirty="0" smtClean="0"/>
              <a:t>Вспомним прошлый семинар </a:t>
            </a:r>
            <a:br>
              <a:rPr lang="ru-RU" altLang="ru-RU" sz="2000" dirty="0" smtClean="0"/>
            </a:br>
            <a:r>
              <a:rPr lang="ru-RU" altLang="ru-RU" dirty="0" smtClean="0"/>
              <a:t>Политическая система общества </a:t>
            </a:r>
            <a:endParaRPr lang="ru-RU" altLang="ru-RU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52600"/>
            <a:ext cx="3924300" cy="42672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ru-RU" altLang="ru-RU" sz="2600" dirty="0"/>
              <a:t>	</a:t>
            </a:r>
            <a:r>
              <a:rPr lang="ru-RU" altLang="ru-RU" sz="2600" dirty="0" smtClean="0">
                <a:solidFill>
                  <a:srgbClr val="C00000"/>
                </a:solidFill>
              </a:rPr>
              <a:t>Целостная совокупность политических институтов, норм, принципов, ценностей, идей и отношений , обеспечивающих организацию и реализацию политической власти в обществе. </a:t>
            </a:r>
            <a:endParaRPr lang="ru-RU" altLang="ru-RU" sz="2600" dirty="0">
              <a:solidFill>
                <a:srgbClr val="C00000"/>
              </a:solidFill>
            </a:endParaRPr>
          </a:p>
        </p:txBody>
      </p:sp>
      <p:graphicFrame>
        <p:nvGraphicFramePr>
          <p:cNvPr id="2" name="Схема 1"/>
          <p:cNvGraphicFramePr/>
          <p:nvPr/>
        </p:nvGraphicFramePr>
        <p:xfrm>
          <a:off x="3962400" y="1752600"/>
          <a:ext cx="4605338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3962400" y="4495800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/>
              <a:t>Институциональная подсистема 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3733800" y="3581400"/>
            <a:ext cx="2635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Идеологическая подсистема </a:t>
            </a: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4572000" y="2438400"/>
            <a:ext cx="2203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Нормативная подсистема </a:t>
            </a:r>
          </a:p>
        </p:txBody>
      </p:sp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6629400" y="2819400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Коммуникативная подсистема </a:t>
            </a:r>
          </a:p>
        </p:txBody>
      </p:sp>
      <p:sp>
        <p:nvSpPr>
          <p:cNvPr id="39957" name="Rectangle 21"/>
          <p:cNvSpPr>
            <a:spLocks noChangeArrowheads="1"/>
          </p:cNvSpPr>
          <p:nvPr/>
        </p:nvSpPr>
        <p:spPr bwMode="auto">
          <a:xfrm>
            <a:off x="6781800" y="4495800"/>
            <a:ext cx="201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Культурная подсистема </a:t>
            </a:r>
          </a:p>
        </p:txBody>
      </p:sp>
    </p:spTree>
    <p:extLst>
      <p:ext uri="{BB962C8B-B14F-4D97-AF65-F5344CB8AC3E}">
        <p14:creationId xmlns:p14="http://schemas.microsoft.com/office/powerpoint/2010/main" val="223102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Проверим себя!</a:t>
            </a:r>
            <a:endParaRPr lang="ru-RU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/>
              <a:t>Насколько </a:t>
            </a:r>
            <a:r>
              <a:rPr lang="ru-RU" dirty="0"/>
              <a:t>различаются </a:t>
            </a:r>
            <a:r>
              <a:rPr lang="ru-RU" u="sng" dirty="0"/>
              <a:t>масштабы понятий </a:t>
            </a:r>
            <a:endParaRPr lang="ru-RU" u="sng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C00000"/>
                </a:solidFill>
              </a:rPr>
              <a:t>"</a:t>
            </a:r>
            <a:r>
              <a:rPr lang="ru-RU" b="1" dirty="0">
                <a:solidFill>
                  <a:srgbClr val="C00000"/>
                </a:solidFill>
              </a:rPr>
              <a:t>Государство"  </a:t>
            </a:r>
            <a:endParaRPr lang="ru-RU" b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и 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C00000"/>
                </a:solidFill>
              </a:rPr>
              <a:t>"</a:t>
            </a:r>
            <a:r>
              <a:rPr lang="ru-RU" b="1" dirty="0">
                <a:solidFill>
                  <a:srgbClr val="C00000"/>
                </a:solidFill>
              </a:rPr>
              <a:t>Политическая система общества" 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12601690"/>
              </p:ext>
            </p:extLst>
          </p:nvPr>
        </p:nvGraphicFramePr>
        <p:xfrm>
          <a:off x="4644008" y="1916832"/>
          <a:ext cx="3924300" cy="373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/>
              </a:tblGrid>
              <a:tr h="936104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r>
                        <a:rPr lang="ru-RU" dirty="0" smtClean="0"/>
                        <a:t>. Понятие «Государство» более  широко и универсально</a:t>
                      </a:r>
                      <a:r>
                        <a:rPr lang="ru-RU" baseline="0" dirty="0" smtClean="0"/>
                        <a:t> чем понятие «Политическая система общества»</a:t>
                      </a:r>
                      <a:endParaRPr lang="ru-RU" dirty="0"/>
                    </a:p>
                  </a:txBody>
                  <a:tcPr/>
                </a:tc>
              </a:tr>
              <a:tr h="9361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2. Понятие «Государство» более  узко,</a:t>
                      </a:r>
                      <a:r>
                        <a:rPr lang="ru-RU" b="1" baseline="0" dirty="0" smtClean="0"/>
                        <a:t> чем понятие «Политическая система общества»</a:t>
                      </a:r>
                      <a:endParaRPr lang="ru-RU" b="1" dirty="0" smtClean="0"/>
                    </a:p>
                  </a:txBody>
                  <a:tcPr/>
                </a:tc>
              </a:tr>
              <a:tr h="819282">
                <a:tc>
                  <a:txBody>
                    <a:bodyPr/>
                    <a:lstStyle/>
                    <a:p>
                      <a:endParaRPr lang="ru-RU" b="1" dirty="0" smtClean="0"/>
                    </a:p>
                    <a:p>
                      <a:r>
                        <a:rPr lang="ru-RU" b="1" dirty="0" smtClean="0"/>
                        <a:t>3. Понятия тождественны.</a:t>
                      </a:r>
                      <a:endParaRPr lang="ru-RU" b="1" dirty="0"/>
                    </a:p>
                  </a:txBody>
                  <a:tcPr/>
                </a:tc>
              </a:tr>
              <a:tr h="1042070">
                <a:tc>
                  <a:txBody>
                    <a:bodyPr/>
                    <a:lstStyle/>
                    <a:p>
                      <a:endParaRPr lang="ru-RU" b="1" dirty="0" smtClean="0"/>
                    </a:p>
                    <a:p>
                      <a:r>
                        <a:rPr lang="ru-RU" b="1" dirty="0" smtClean="0"/>
                        <a:t>4. Понятия не сопоставимы.</a:t>
                      </a:r>
                      <a:endParaRPr lang="ru-RU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39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F88-8642-4999-B9D5-3A2C1925CE6A}" type="slidenum">
              <a:rPr lang="ru-RU" altLang="ru-RU"/>
              <a:pPr/>
              <a:t>4</a:t>
            </a:fld>
            <a:endParaRPr lang="ru-RU" altLang="ru-RU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Политический режим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133600"/>
            <a:ext cx="4114800" cy="4724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100" dirty="0"/>
              <a:t>	</a:t>
            </a:r>
            <a:r>
              <a:rPr lang="ru-RU" altLang="ru-RU" sz="2600" b="1" dirty="0">
                <a:solidFill>
                  <a:schemeClr val="accent6">
                    <a:lumMod val="75000"/>
                  </a:schemeClr>
                </a:solidFill>
              </a:rPr>
              <a:t>Совокупность  </a:t>
            </a:r>
            <a:r>
              <a:rPr lang="ru-RU" altLang="ru-RU" sz="2600" b="1" dirty="0" smtClean="0">
                <a:solidFill>
                  <a:schemeClr val="accent6">
                    <a:lumMod val="75000"/>
                  </a:schemeClr>
                </a:solidFill>
              </a:rPr>
              <a:t>форм </a:t>
            </a:r>
            <a:r>
              <a:rPr lang="ru-RU" altLang="ru-RU" sz="2600" b="1" dirty="0">
                <a:solidFill>
                  <a:schemeClr val="accent6">
                    <a:lumMod val="75000"/>
                  </a:schemeClr>
                </a:solidFill>
              </a:rPr>
              <a:t>и методов функционирования основных институтов власти</a:t>
            </a:r>
            <a:r>
              <a:rPr lang="ru-RU" altLang="ru-RU" sz="26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ru-RU" altLang="ru-RU" sz="2600" dirty="0" smtClean="0">
                <a:solidFill>
                  <a:schemeClr val="accent6">
                    <a:lumMod val="75000"/>
                  </a:schemeClr>
                </a:solidFill>
              </a:rPr>
              <a:t>используемых </a:t>
            </a:r>
            <a:r>
              <a:rPr lang="ru-RU" altLang="ru-RU" sz="2600" dirty="0">
                <a:solidFill>
                  <a:schemeClr val="accent6">
                    <a:lumMod val="75000"/>
                  </a:schemeClr>
                </a:solidFill>
              </a:rPr>
              <a:t>ими ресурсов и способов </a:t>
            </a:r>
            <a:r>
              <a:rPr lang="ru-RU" altLang="ru-RU" sz="2600" dirty="0" smtClean="0">
                <a:solidFill>
                  <a:schemeClr val="accent6">
                    <a:lumMod val="75000"/>
                  </a:schemeClr>
                </a:solidFill>
              </a:rPr>
              <a:t>управления </a:t>
            </a:r>
            <a:r>
              <a:rPr lang="ru-RU" altLang="ru-RU" sz="2600" dirty="0">
                <a:solidFill>
                  <a:schemeClr val="accent6">
                    <a:lumMod val="75000"/>
                  </a:schemeClr>
                </a:solidFill>
              </a:rPr>
              <a:t>в процессе </a:t>
            </a:r>
            <a:r>
              <a:rPr lang="ru-RU" altLang="ru-RU" sz="2600" dirty="0" smtClean="0">
                <a:solidFill>
                  <a:schemeClr val="accent6">
                    <a:lumMod val="75000"/>
                  </a:schemeClr>
                </a:solidFill>
              </a:rPr>
              <a:t>взаимодействия государства и </a:t>
            </a:r>
            <a:r>
              <a:rPr lang="ru-RU" altLang="ru-RU" sz="2600" dirty="0">
                <a:solidFill>
                  <a:schemeClr val="accent6">
                    <a:lumMod val="75000"/>
                  </a:schemeClr>
                </a:solidFill>
              </a:rPr>
              <a:t>общества 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4211960" y="1484784"/>
            <a:ext cx="4752528" cy="4752528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100" b="1" dirty="0" smtClean="0"/>
              <a:t>Ключевые признаки политического режима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Степень участия народа в государственном управлении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Соотношение прав и свобод гражданина с законодательно прописанными правами государства 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Гарантированность прав и свобод личности 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Степень обязательности требований закона для всех слоев общества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Положение средств массовой информации</a:t>
            </a:r>
          </a:p>
          <a:p>
            <a:pPr>
              <a:lnSpc>
                <a:spcPct val="80000"/>
              </a:lnSpc>
            </a:pPr>
            <a:r>
              <a:rPr lang="ru-RU" altLang="ru-RU" sz="2100" dirty="0" smtClean="0"/>
              <a:t>Реально используемые инструменты управления</a:t>
            </a:r>
            <a:endParaRPr lang="ru-RU" altLang="ru-RU" sz="1600" dirty="0"/>
          </a:p>
        </p:txBody>
      </p:sp>
    </p:spTree>
    <p:extLst>
      <p:ext uri="{BB962C8B-B14F-4D97-AF65-F5344CB8AC3E}">
        <p14:creationId xmlns:p14="http://schemas.microsoft.com/office/powerpoint/2010/main" val="11373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Типы политического режима</a:t>
            </a: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</a:rPr>
              <a:t>Демократический</a:t>
            </a:r>
            <a:r>
              <a:rPr lang="ru-RU" altLang="ru-RU" sz="2200" b="1" dirty="0"/>
              <a:t>.</a:t>
            </a:r>
            <a:r>
              <a:rPr lang="ru-RU" altLang="ru-RU" sz="2200" dirty="0"/>
              <a:t> </a:t>
            </a:r>
            <a:r>
              <a:rPr lang="ru-RU" altLang="ru-RU" sz="2200" b="1" dirty="0"/>
              <a:t>Формы демократии</a:t>
            </a:r>
            <a:r>
              <a:rPr lang="ru-RU" altLang="ru-RU" sz="2200" dirty="0"/>
              <a:t>: прямая, плебисцитарная,  представительная, цензовая. </a:t>
            </a:r>
            <a:r>
              <a:rPr lang="ru-RU" altLang="ru-RU" sz="2200" b="1" dirty="0"/>
              <a:t>Признаки режима</a:t>
            </a:r>
            <a:r>
              <a:rPr lang="ru-RU" altLang="ru-RU" sz="2200" dirty="0"/>
              <a:t>: плюрализм, многопартийность, разделение властей, наличие политической оппозиции.</a:t>
            </a:r>
          </a:p>
          <a:p>
            <a:pPr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</a:rPr>
              <a:t>Авторитарный</a:t>
            </a:r>
            <a:r>
              <a:rPr lang="ru-RU" altLang="ru-RU" sz="2200" b="1" dirty="0"/>
              <a:t>.</a:t>
            </a:r>
            <a:r>
              <a:rPr lang="ru-RU" altLang="ru-RU" sz="2200" dirty="0"/>
              <a:t> </a:t>
            </a:r>
            <a:r>
              <a:rPr lang="ru-RU" altLang="ru-RU" sz="2200" b="1" dirty="0"/>
              <a:t>Формы авторитарного режима</a:t>
            </a:r>
            <a:r>
              <a:rPr lang="ru-RU" altLang="ru-RU" sz="2200" dirty="0"/>
              <a:t>: военные диктатуры, теократии, олигархии, </a:t>
            </a:r>
            <a:r>
              <a:rPr lang="ru-RU" altLang="ru-RU" sz="2200" dirty="0" err="1"/>
              <a:t>вождистские</a:t>
            </a:r>
            <a:r>
              <a:rPr lang="ru-RU" altLang="ru-RU" sz="2200" dirty="0"/>
              <a:t> режимы, смешанные. </a:t>
            </a:r>
            <a:r>
              <a:rPr lang="ru-RU" altLang="ru-RU" sz="2200" b="1" dirty="0"/>
              <a:t>Признаки режима:</a:t>
            </a:r>
            <a:r>
              <a:rPr lang="ru-RU" altLang="ru-RU" sz="2200" dirty="0"/>
              <a:t> </a:t>
            </a:r>
            <a:r>
              <a:rPr lang="ru-RU" altLang="ru-RU" sz="2200" u="sng" dirty="0"/>
              <a:t>монополия на власть лидера, партии, группировки</a:t>
            </a:r>
            <a:r>
              <a:rPr lang="ru-RU" altLang="ru-RU" sz="2200" dirty="0"/>
              <a:t>; полный или частичный запрет на оппозицию, сильная централизация власти, наследование и кооптация – главные способы формирования элит</a:t>
            </a:r>
          </a:p>
          <a:p>
            <a:pPr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</a:rPr>
              <a:t>Тоталитарный</a:t>
            </a:r>
            <a:r>
              <a:rPr lang="ru-RU" altLang="ru-RU" sz="2200" b="1" dirty="0"/>
              <a:t>.</a:t>
            </a:r>
            <a:r>
              <a:rPr lang="ru-RU" altLang="ru-RU" sz="2200" dirty="0"/>
              <a:t> </a:t>
            </a:r>
            <a:r>
              <a:rPr lang="ru-RU" altLang="ru-RU" sz="2200" b="1" dirty="0"/>
              <a:t>Формы тоталитаризма</a:t>
            </a:r>
            <a:r>
              <a:rPr lang="ru-RU" altLang="ru-RU" sz="2200" dirty="0"/>
              <a:t>: правый и левый. </a:t>
            </a:r>
            <a:r>
              <a:rPr lang="ru-RU" altLang="ru-RU" sz="2200" b="1" dirty="0"/>
              <a:t>Признаки режима</a:t>
            </a:r>
            <a:r>
              <a:rPr lang="ru-RU" altLang="ru-RU" sz="2200" dirty="0"/>
              <a:t>: </a:t>
            </a:r>
            <a:r>
              <a:rPr lang="ru-RU" altLang="ru-RU" sz="2200" u="sng" dirty="0"/>
              <a:t>стремление государства к полному контролю общества и каждой личности</a:t>
            </a:r>
            <a:r>
              <a:rPr lang="ru-RU" altLang="ru-RU" sz="2200" dirty="0"/>
              <a:t>, обязательная официальная идеология, партийный и полицейский контроль над СМИ, строго централизованная система управления экономикой.</a:t>
            </a:r>
          </a:p>
        </p:txBody>
      </p:sp>
    </p:spTree>
    <p:extLst>
      <p:ext uri="{BB962C8B-B14F-4D97-AF65-F5344CB8AC3E}">
        <p14:creationId xmlns:p14="http://schemas.microsoft.com/office/powerpoint/2010/main" val="59074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Тема для обсуждения 1</a:t>
            </a:r>
            <a:endParaRPr lang="ru-RU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Можно ли рассматривать обсуждаемые сегодня изменения в Конституцию РФ как </a:t>
            </a:r>
            <a:endParaRPr lang="ru-RU" u="sng" dirty="0" smtClean="0"/>
          </a:p>
          <a:p>
            <a:pPr marL="0" indent="0" algn="ctr">
              <a:buNone/>
            </a:pPr>
            <a:r>
              <a:rPr lang="ru-RU" b="1" dirty="0">
                <a:solidFill>
                  <a:srgbClr val="C00000"/>
                </a:solidFill>
              </a:rPr>
              <a:t>т</a:t>
            </a:r>
            <a:r>
              <a:rPr lang="ru-RU" b="1" dirty="0" smtClean="0">
                <a:solidFill>
                  <a:srgbClr val="C00000"/>
                </a:solidFill>
              </a:rPr>
              <a:t>рансформацию </a:t>
            </a:r>
            <a:r>
              <a:rPr lang="ru-RU" b="1" dirty="0" smtClean="0">
                <a:solidFill>
                  <a:srgbClr val="C00000"/>
                </a:solidFill>
              </a:rPr>
              <a:t>политического режима России?</a:t>
            </a:r>
            <a:endParaRPr lang="ru-RU" b="1" dirty="0" smtClean="0">
              <a:solidFill>
                <a:srgbClr val="C00000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4107639"/>
              </p:ext>
            </p:extLst>
          </p:nvPr>
        </p:nvGraphicFramePr>
        <p:xfrm>
          <a:off x="4644008" y="1916832"/>
          <a:ext cx="3924300" cy="36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/>
              </a:tblGrid>
              <a:tr h="1209481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r>
                        <a:rPr lang="ru-RU" dirty="0" smtClean="0"/>
                        <a:t>. </a:t>
                      </a:r>
                      <a:r>
                        <a:rPr lang="ru-RU" dirty="0" smtClean="0"/>
                        <a:t>Можно</a:t>
                      </a:r>
                      <a:endParaRPr lang="ru-RU" dirty="0"/>
                    </a:p>
                  </a:txBody>
                  <a:tcPr/>
                </a:tc>
              </a:tr>
              <a:tr h="12094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2. </a:t>
                      </a:r>
                      <a:r>
                        <a:rPr lang="ru-RU" b="1" dirty="0" smtClean="0"/>
                        <a:t>Нельзя</a:t>
                      </a:r>
                      <a:endParaRPr lang="ru-RU" b="1" dirty="0" smtClean="0"/>
                    </a:p>
                  </a:txBody>
                  <a:tcPr/>
                </a:tc>
              </a:tr>
              <a:tr h="1181438">
                <a:tc>
                  <a:txBody>
                    <a:bodyPr/>
                    <a:lstStyle/>
                    <a:p>
                      <a:r>
                        <a:rPr lang="ru-RU" b="1" dirty="0" smtClean="0"/>
                        <a:t>3</a:t>
                      </a:r>
                      <a:r>
                        <a:rPr lang="ru-RU" b="1" dirty="0" smtClean="0"/>
                        <a:t>. </a:t>
                      </a:r>
                      <a:r>
                        <a:rPr lang="ru-RU" b="1" dirty="0" smtClean="0"/>
                        <a:t>В зависимости от того, насколько этими изменениями будут руководствоваться</a:t>
                      </a:r>
                      <a:endParaRPr lang="ru-RU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05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Тема для обсуждения 2</a:t>
            </a:r>
            <a:endParaRPr lang="ru-RU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dirty="0" smtClean="0"/>
              <a:t>Можно ли рассматривать сегодняшнюю эпидемию </a:t>
            </a:r>
            <a:r>
              <a:rPr lang="ru-RU" dirty="0" err="1" smtClean="0"/>
              <a:t>короновируса</a:t>
            </a:r>
            <a:r>
              <a:rPr lang="ru-RU" dirty="0" smtClean="0"/>
              <a:t> как фактор, способный повлиять на </a:t>
            </a:r>
            <a:endParaRPr lang="ru-RU" u="sng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C00000"/>
                </a:solidFill>
              </a:rPr>
              <a:t>политический   режим России?</a:t>
            </a:r>
            <a:endParaRPr lang="ru-RU" b="1" dirty="0" smtClean="0">
              <a:solidFill>
                <a:srgbClr val="C00000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2207887"/>
              </p:ext>
            </p:extLst>
          </p:nvPr>
        </p:nvGraphicFramePr>
        <p:xfrm>
          <a:off x="4644008" y="1916832"/>
          <a:ext cx="3924300" cy="36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/>
              </a:tblGrid>
              <a:tr h="1209481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r>
                        <a:rPr lang="ru-RU" dirty="0" smtClean="0"/>
                        <a:t>. </a:t>
                      </a:r>
                      <a:r>
                        <a:rPr lang="ru-RU" dirty="0" smtClean="0"/>
                        <a:t>Можно</a:t>
                      </a:r>
                      <a:endParaRPr lang="ru-RU" dirty="0"/>
                    </a:p>
                  </a:txBody>
                  <a:tcPr/>
                </a:tc>
              </a:tr>
              <a:tr h="12094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2. </a:t>
                      </a:r>
                      <a:r>
                        <a:rPr lang="ru-RU" b="1" dirty="0" smtClean="0"/>
                        <a:t>Нельзя</a:t>
                      </a:r>
                      <a:endParaRPr lang="ru-RU" b="1" dirty="0" smtClean="0"/>
                    </a:p>
                  </a:txBody>
                  <a:tcPr/>
                </a:tc>
              </a:tr>
              <a:tr h="1181438">
                <a:tc>
                  <a:txBody>
                    <a:bodyPr/>
                    <a:lstStyle/>
                    <a:p>
                      <a:r>
                        <a:rPr lang="ru-RU" b="1" dirty="0" smtClean="0"/>
                        <a:t>3</a:t>
                      </a:r>
                      <a:r>
                        <a:rPr lang="ru-RU" b="1" dirty="0" smtClean="0"/>
                        <a:t>. </a:t>
                      </a:r>
                      <a:r>
                        <a:rPr lang="ru-RU" b="1" dirty="0" smtClean="0"/>
                        <a:t>В зависимости от того, насколько этими изменениями будут руководствоваться</a:t>
                      </a:r>
                      <a:endParaRPr lang="ru-RU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8260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322</Words>
  <Application>Microsoft Office PowerPoint</Application>
  <PresentationFormat>Экран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Политология (семинар №7)</vt:lpstr>
      <vt:lpstr>Вспомним прошлый семинар  Политическая система общества </vt:lpstr>
      <vt:lpstr>Проверим себя!</vt:lpstr>
      <vt:lpstr>Политический режим </vt:lpstr>
      <vt:lpstr>Типы политического режима</vt:lpstr>
      <vt:lpstr>Тема для обсуждения 1</vt:lpstr>
      <vt:lpstr>Тема для обсуждения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Политология (семинар №7)</dc:title>
  <dc:creator>hp-pc</dc:creator>
  <cp:lastModifiedBy>HP</cp:lastModifiedBy>
  <cp:revision>10</cp:revision>
  <dcterms:created xsi:type="dcterms:W3CDTF">2020-03-22T09:21:31Z</dcterms:created>
  <dcterms:modified xsi:type="dcterms:W3CDTF">2020-03-24T17:36:09Z</dcterms:modified>
</cp:coreProperties>
</file>