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8070-08C1-435A-ADA6-76A4BF47CC56}" type="datetimeFigureOut">
              <a:rPr lang="ru-RU" smtClean="0"/>
              <a:t>09.04.2020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E76D-B980-4717-9705-E81F6D18A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5555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8070-08C1-435A-ADA6-76A4BF47CC56}" type="datetimeFigureOut">
              <a:rPr lang="ru-RU" smtClean="0"/>
              <a:t>09.04.2020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E76D-B980-4717-9705-E81F6D18A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9277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8070-08C1-435A-ADA6-76A4BF47CC56}" type="datetimeFigureOut">
              <a:rPr lang="ru-RU" smtClean="0"/>
              <a:t>09.04.2020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E76D-B980-4717-9705-E81F6D18A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499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8070-08C1-435A-ADA6-76A4BF47CC56}" type="datetimeFigureOut">
              <a:rPr lang="ru-RU" smtClean="0"/>
              <a:t>09.04.2020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E76D-B980-4717-9705-E81F6D18A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0164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8070-08C1-435A-ADA6-76A4BF47CC56}" type="datetimeFigureOut">
              <a:rPr lang="ru-RU" smtClean="0"/>
              <a:t>09.04.2020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E76D-B980-4717-9705-E81F6D18A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109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8070-08C1-435A-ADA6-76A4BF47CC56}" type="datetimeFigureOut">
              <a:rPr lang="ru-RU" smtClean="0"/>
              <a:t>09.04.2020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E76D-B980-4717-9705-E81F6D18A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176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8070-08C1-435A-ADA6-76A4BF47CC56}" type="datetimeFigureOut">
              <a:rPr lang="ru-RU" smtClean="0"/>
              <a:t>09.04.2020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E76D-B980-4717-9705-E81F6D18A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0667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8070-08C1-435A-ADA6-76A4BF47CC56}" type="datetimeFigureOut">
              <a:rPr lang="ru-RU" smtClean="0"/>
              <a:t>09.04.2020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E76D-B980-4717-9705-E81F6D18A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10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8070-08C1-435A-ADA6-76A4BF47CC56}" type="datetimeFigureOut">
              <a:rPr lang="ru-RU" smtClean="0"/>
              <a:t>09.04.2020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E76D-B980-4717-9705-E81F6D18A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4793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8070-08C1-435A-ADA6-76A4BF47CC56}" type="datetimeFigureOut">
              <a:rPr lang="ru-RU" smtClean="0"/>
              <a:t>09.04.2020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E76D-B980-4717-9705-E81F6D18A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193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8070-08C1-435A-ADA6-76A4BF47CC56}" type="datetimeFigureOut">
              <a:rPr lang="ru-RU" smtClean="0"/>
              <a:t>09.04.2020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E76D-B980-4717-9705-E81F6D18A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6056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8070-08C1-435A-ADA6-76A4BF47CC56}" type="datetimeFigureOut">
              <a:rPr lang="ru-RU" smtClean="0"/>
              <a:t>09.04.2020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E76D-B980-4717-9705-E81F6D18AB18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69402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8070-08C1-435A-ADA6-76A4BF47CC56}" type="datetimeFigureOut">
              <a:rPr lang="ru-RU" smtClean="0"/>
              <a:t>09.04.2020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E76D-B980-4717-9705-E81F6D18A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198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8070-08C1-435A-ADA6-76A4BF47CC56}" type="datetimeFigureOut">
              <a:rPr lang="ru-RU" smtClean="0"/>
              <a:t>09.04.2020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E76D-B980-4717-9705-E81F6D18A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95031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8070-08C1-435A-ADA6-76A4BF47CC56}" type="datetimeFigureOut">
              <a:rPr lang="ru-RU" smtClean="0"/>
              <a:t>09.04.2020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E76D-B980-4717-9705-E81F6D18A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684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8070-08C1-435A-ADA6-76A4BF47CC56}" type="datetimeFigureOut">
              <a:rPr lang="ru-RU" smtClean="0"/>
              <a:t>09.04.2020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E76D-B980-4717-9705-E81F6D18A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322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8070-08C1-435A-ADA6-76A4BF47CC56}" type="datetimeFigureOut">
              <a:rPr lang="ru-RU" smtClean="0"/>
              <a:t>09.04.2020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E76D-B980-4717-9705-E81F6D18A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909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3148070-08C1-435A-ADA6-76A4BF47CC56}" type="datetimeFigureOut">
              <a:rPr lang="ru-RU" smtClean="0"/>
              <a:t>09.04.2020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065E76D-B980-4717-9705-E81F6D18A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548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Политические партии и общественные движения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3728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Политическая партия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i="1" dirty="0" smtClean="0"/>
              <a:t>-</a:t>
            </a:r>
            <a:r>
              <a:rPr lang="ru-RU" dirty="0" smtClean="0"/>
              <a:t> </a:t>
            </a:r>
            <a:r>
              <a:rPr lang="ru-RU" dirty="0"/>
              <a:t>это специализированная общест­венная организация, объединяющая наиболее активных привержен­цев тех или иных целей и направленная на борьбу за завоевание и использование политической власти.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3718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Признаки </a:t>
            </a:r>
            <a:r>
              <a:rPr lang="ru-RU" b="1" dirty="0"/>
              <a:t>политической </a:t>
            </a:r>
            <a:r>
              <a:rPr lang="ru-RU" b="1" dirty="0" smtClean="0"/>
              <a:t>партии</a:t>
            </a:r>
            <a:r>
              <a:rPr lang="ru-RU" b="1" dirty="0"/>
              <a:t/>
            </a:r>
            <a:br>
              <a:rPr lang="ru-RU" b="1" dirty="0"/>
            </a:b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во-первых, всякая партия является носителем идеологии или, по крайней мере, выражает конкретную ориентацию, видение мира и человека;</a:t>
            </a:r>
          </a:p>
          <a:p>
            <a:r>
              <a:rPr lang="ru-RU" dirty="0"/>
              <a:t>во-вторых, партия - это организация; устойчивое относитель­но продолжительное по времени объединение людей;</a:t>
            </a:r>
          </a:p>
          <a:p>
            <a:r>
              <a:rPr lang="ru-RU" dirty="0"/>
              <a:t>в-третьих, цель партии - завоевание и осуществление власти (хотя при многопартийной системе одна партия сама по себе редко может завоевать власть, здесь, скорее всего, следует говорить об уча­стии в реализации властных функций или о включении в политиче­скую систему);</a:t>
            </a:r>
          </a:p>
          <a:p>
            <a:r>
              <a:rPr lang="ru-RU" dirty="0"/>
              <a:t>в-четвертых, каждая партия стремится обеспечить себе под­держку народа - вплоть до членства или активного членства (активи­сты) в ней.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7307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внутренняя </a:t>
            </a:r>
            <a:r>
              <a:rPr lang="ru-RU" b="1" dirty="0"/>
              <a:t>и </a:t>
            </a:r>
            <a:r>
              <a:rPr lang="ru-RU" b="1" dirty="0" smtClean="0"/>
              <a:t>внешняя структу­ра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b="1" dirty="0"/>
              <a:t>Внутренняя структура</a:t>
            </a:r>
            <a:r>
              <a:rPr lang="ru-RU" dirty="0"/>
              <a:t> представлена руководством и рядо­выми членами</a:t>
            </a:r>
            <a:r>
              <a:rPr lang="ru-RU" dirty="0" smtClean="0"/>
              <a:t>.</a:t>
            </a:r>
          </a:p>
          <a:p>
            <a:r>
              <a:rPr lang="ru-RU" b="1" dirty="0"/>
              <a:t>Внешняя структура</a:t>
            </a:r>
            <a:r>
              <a:rPr lang="ru-RU" dirty="0"/>
              <a:t> - это «сочувствующие» партийной про­грамме, «партийный электорат», то есть те, кто голосует за нее на выборах.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901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Финансирование деятельности партии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взносы самих членов партии; </a:t>
            </a:r>
            <a:endParaRPr lang="ru-RU" dirty="0" smtClean="0"/>
          </a:p>
          <a:p>
            <a:r>
              <a:rPr lang="ru-RU" dirty="0" smtClean="0"/>
              <a:t>средства </a:t>
            </a:r>
            <a:r>
              <a:rPr lang="ru-RU" dirty="0"/>
              <a:t>от спонсоров</a:t>
            </a:r>
            <a:r>
              <a:rPr lang="ru-RU" dirty="0" smtClean="0"/>
              <a:t>,</a:t>
            </a:r>
          </a:p>
          <a:p>
            <a:r>
              <a:rPr lang="ru-RU" dirty="0" smtClean="0"/>
              <a:t> </a:t>
            </a:r>
            <a:r>
              <a:rPr lang="ru-RU" dirty="0"/>
              <a:t>доходы от собственной дея­тельности (главным образом издательской); </a:t>
            </a:r>
            <a:endParaRPr lang="ru-RU" dirty="0" smtClean="0"/>
          </a:p>
          <a:p>
            <a:r>
              <a:rPr lang="ru-RU" dirty="0" smtClean="0"/>
              <a:t>средства </a:t>
            </a:r>
            <a:r>
              <a:rPr lang="ru-RU" dirty="0"/>
              <a:t>из государст­венного бюджета (в период избирательных кампаний); </a:t>
            </a:r>
            <a:endParaRPr lang="ru-RU" dirty="0" smtClean="0"/>
          </a:p>
          <a:p>
            <a:r>
              <a:rPr lang="ru-RU" dirty="0" smtClean="0"/>
              <a:t>поступления </a:t>
            </a:r>
            <a:r>
              <a:rPr lang="ru-RU" dirty="0"/>
              <a:t>из зарубежных источников (в ряде стран это запрещается законом).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0436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цели </a:t>
            </a:r>
            <a:r>
              <a:rPr lang="ru-RU" b="1" dirty="0"/>
              <a:t>политической партии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форми</a:t>
            </a:r>
            <a:r>
              <a:rPr lang="ru-RU" i="1" dirty="0"/>
              <a:t>­</a:t>
            </a:r>
            <a:r>
              <a:rPr lang="ru-RU" dirty="0"/>
              <a:t>рование общественного мнения</a:t>
            </a:r>
            <a:r>
              <a:rPr lang="ru-RU" i="1" dirty="0"/>
              <a:t>;</a:t>
            </a:r>
            <a:r>
              <a:rPr lang="ru-RU" dirty="0"/>
              <a:t> </a:t>
            </a:r>
            <a:endParaRPr lang="ru-RU" dirty="0" smtClean="0"/>
          </a:p>
          <a:p>
            <a:r>
              <a:rPr lang="ru-RU" dirty="0" smtClean="0"/>
              <a:t>политическое </a:t>
            </a:r>
            <a:r>
              <a:rPr lang="ru-RU" dirty="0"/>
              <a:t>образование и воспи</a:t>
            </a:r>
            <a:r>
              <a:rPr lang="ru-RU" i="1" dirty="0"/>
              <a:t>­</a:t>
            </a:r>
            <a:r>
              <a:rPr lang="ru-RU" dirty="0"/>
              <a:t>тание граждан</a:t>
            </a:r>
            <a:r>
              <a:rPr lang="ru-RU" i="1" dirty="0" smtClean="0"/>
              <a:t>;</a:t>
            </a:r>
          </a:p>
          <a:p>
            <a:r>
              <a:rPr lang="ru-RU" dirty="0" smtClean="0"/>
              <a:t> </a:t>
            </a:r>
            <a:r>
              <a:rPr lang="ru-RU" dirty="0"/>
              <a:t>выражение мнений граждан по любым вопросам об</a:t>
            </a:r>
            <a:r>
              <a:rPr lang="ru-RU" i="1" dirty="0"/>
              <a:t>­</a:t>
            </a:r>
            <a:r>
              <a:rPr lang="ru-RU" dirty="0"/>
              <a:t>щественной жизни</a:t>
            </a:r>
            <a:r>
              <a:rPr lang="ru-RU" i="1" dirty="0"/>
              <a:t>,</a:t>
            </a:r>
            <a:r>
              <a:rPr lang="ru-RU" dirty="0"/>
              <a:t> доведение этих мнений до сведения широкой об</a:t>
            </a:r>
            <a:r>
              <a:rPr lang="ru-RU" i="1" dirty="0"/>
              <a:t>­</a:t>
            </a:r>
            <a:r>
              <a:rPr lang="ru-RU" dirty="0"/>
              <a:t>щественности и органов государственной власти</a:t>
            </a:r>
            <a:r>
              <a:rPr lang="ru-RU" i="1" dirty="0"/>
              <a:t>;</a:t>
            </a:r>
            <a:r>
              <a:rPr lang="ru-RU" dirty="0"/>
              <a:t> </a:t>
            </a:r>
            <a:endParaRPr lang="ru-RU" dirty="0" smtClean="0"/>
          </a:p>
          <a:p>
            <a:r>
              <a:rPr lang="ru-RU" dirty="0" smtClean="0"/>
              <a:t>выдвижение </a:t>
            </a:r>
            <a:r>
              <a:rPr lang="ru-RU" dirty="0"/>
              <a:t>канди</a:t>
            </a:r>
            <a:r>
              <a:rPr lang="ru-RU" i="1" dirty="0"/>
              <a:t>­</a:t>
            </a:r>
            <a:r>
              <a:rPr lang="ru-RU" dirty="0"/>
              <a:t>датов на выборах в законодательные </a:t>
            </a:r>
            <a:r>
              <a:rPr lang="ru-RU" i="1" dirty="0"/>
              <a:t>(</a:t>
            </a:r>
            <a:r>
              <a:rPr lang="ru-RU" dirty="0"/>
              <a:t>представительные</a:t>
            </a:r>
            <a:r>
              <a:rPr lang="ru-RU" i="1" dirty="0"/>
              <a:t>)</a:t>
            </a:r>
            <a:r>
              <a:rPr lang="ru-RU" dirty="0"/>
              <a:t> органы го</a:t>
            </a:r>
            <a:r>
              <a:rPr lang="ru-RU" i="1" dirty="0"/>
              <a:t>­</a:t>
            </a:r>
            <a:r>
              <a:rPr lang="ru-RU" dirty="0"/>
              <a:t>сударственной власти и представительные органы местного само</a:t>
            </a:r>
            <a:r>
              <a:rPr lang="ru-RU" i="1" dirty="0"/>
              <a:t>­</a:t>
            </a:r>
            <a:r>
              <a:rPr lang="ru-RU" dirty="0"/>
              <a:t>управления</a:t>
            </a:r>
            <a:r>
              <a:rPr lang="ru-RU" i="1" dirty="0"/>
              <a:t>,</a:t>
            </a:r>
            <a:r>
              <a:rPr lang="ru-RU" dirty="0"/>
              <a:t> участие в выборах в указанные органы и в их работе</a:t>
            </a:r>
            <a:r>
              <a:rPr lang="ru-RU" i="1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1693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Функции политической партии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 smtClean="0"/>
              <a:t>Политические</a:t>
            </a:r>
          </a:p>
          <a:p>
            <a:r>
              <a:rPr lang="ru-RU" dirty="0" smtClean="0"/>
              <a:t>идеоло­гические </a:t>
            </a:r>
          </a:p>
          <a:p>
            <a:r>
              <a:rPr lang="ru-RU" dirty="0" smtClean="0"/>
              <a:t>социальные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8475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общественно важные 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во-первых, политические партии обеспечивают связь населения с государственными структурами, тем самым они заменяют стихийные (и, следовательно, непредсказуемые) формы политической активности населения</a:t>
            </a:r>
            <a:r>
              <a:rPr lang="ru-RU" dirty="0" smtClean="0"/>
              <a:t>;</a:t>
            </a:r>
          </a:p>
          <a:p>
            <a:r>
              <a:rPr lang="ru-RU" dirty="0" smtClean="0"/>
              <a:t> </a:t>
            </a:r>
            <a:r>
              <a:rPr lang="ru-RU" dirty="0"/>
              <a:t>во-вторых, партии яв­ляются одной из самых эффективных форм преодоления политиче­ской апатии и пассивности граждан</a:t>
            </a:r>
            <a:r>
              <a:rPr lang="ru-RU" dirty="0" smtClean="0"/>
              <a:t>;</a:t>
            </a:r>
          </a:p>
          <a:p>
            <a:r>
              <a:rPr lang="ru-RU" dirty="0" smtClean="0"/>
              <a:t> </a:t>
            </a:r>
            <a:r>
              <a:rPr lang="ru-RU" dirty="0"/>
              <a:t>в-третьих, выступая за распре­деление и перераспределение политической власти, партии чаще все­го обеспечивают мирный путь осуществления этих процессов, позво­ляют избегать общественных потрясений.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7589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Типы политических партий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1. организационная </a:t>
            </a:r>
            <a:r>
              <a:rPr lang="ru-RU" dirty="0"/>
              <a:t>структура и ха­рактер членства в </a:t>
            </a:r>
            <a:r>
              <a:rPr lang="ru-RU" dirty="0" smtClean="0"/>
              <a:t>партии:</a:t>
            </a:r>
          </a:p>
          <a:p>
            <a:r>
              <a:rPr lang="ru-RU" dirty="0"/>
              <a:t>массовые </a:t>
            </a:r>
          </a:p>
          <a:p>
            <a:r>
              <a:rPr lang="ru-RU" dirty="0" smtClean="0"/>
              <a:t>Кадровые</a:t>
            </a:r>
          </a:p>
          <a:p>
            <a:pPr marL="0" indent="0">
              <a:buNone/>
            </a:pPr>
            <a:r>
              <a:rPr lang="ru-RU" dirty="0" smtClean="0"/>
              <a:t>2. </a:t>
            </a:r>
            <a:r>
              <a:rPr lang="ru-RU" dirty="0"/>
              <a:t>политические позиции и идеологические принципы </a:t>
            </a:r>
            <a:r>
              <a:rPr lang="ru-RU" dirty="0" smtClean="0"/>
              <a:t>партий:</a:t>
            </a:r>
          </a:p>
          <a:p>
            <a:r>
              <a:rPr lang="ru-RU" dirty="0" smtClean="0"/>
              <a:t>Коммунистические</a:t>
            </a:r>
          </a:p>
          <a:p>
            <a:r>
              <a:rPr lang="ru-RU" dirty="0" smtClean="0"/>
              <a:t> социалистиче­ские</a:t>
            </a:r>
          </a:p>
          <a:p>
            <a:r>
              <a:rPr lang="ru-RU" dirty="0" smtClean="0"/>
              <a:t> </a:t>
            </a:r>
            <a:r>
              <a:rPr lang="ru-RU" dirty="0"/>
              <a:t>социал-демократические и </a:t>
            </a:r>
            <a:r>
              <a:rPr lang="ru-RU" dirty="0" smtClean="0"/>
              <a:t>др.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4918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Типы политических партий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smtClean="0"/>
              <a:t>3. степень внутренней организации:</a:t>
            </a:r>
          </a:p>
          <a:p>
            <a:r>
              <a:rPr lang="ru-RU" dirty="0" smtClean="0"/>
              <a:t>Централизованные</a:t>
            </a:r>
          </a:p>
          <a:p>
            <a:r>
              <a:rPr lang="ru-RU" dirty="0" smtClean="0"/>
              <a:t>де­централизованные</a:t>
            </a:r>
          </a:p>
          <a:p>
            <a:pPr marL="0" indent="0">
              <a:buNone/>
            </a:pPr>
            <a:r>
              <a:rPr lang="ru-RU" dirty="0" smtClean="0"/>
              <a:t>4. </a:t>
            </a:r>
            <a:r>
              <a:rPr lang="ru-RU" dirty="0"/>
              <a:t>положение в политической системе </a:t>
            </a:r>
            <a:r>
              <a:rPr lang="ru-RU" dirty="0" smtClean="0"/>
              <a:t>общества:</a:t>
            </a:r>
          </a:p>
          <a:p>
            <a:r>
              <a:rPr lang="ru-RU" dirty="0" smtClean="0"/>
              <a:t>Парламентские</a:t>
            </a:r>
          </a:p>
          <a:p>
            <a:r>
              <a:rPr lang="ru-RU" dirty="0" smtClean="0"/>
              <a:t>Непарламентские 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5. </a:t>
            </a:r>
            <a:r>
              <a:rPr lang="ru-RU" dirty="0"/>
              <a:t>отношение партий к господствующему политическому </a:t>
            </a:r>
            <a:r>
              <a:rPr lang="ru-RU" dirty="0" smtClean="0"/>
              <a:t>режиму:</a:t>
            </a:r>
          </a:p>
          <a:p>
            <a:r>
              <a:rPr lang="ru-RU" dirty="0" smtClean="0"/>
              <a:t>Правящие</a:t>
            </a:r>
          </a:p>
          <a:p>
            <a:r>
              <a:rPr lang="ru-RU" dirty="0" smtClean="0"/>
              <a:t>оппозиционные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0211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Типы политических партий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i="1" dirty="0" smtClean="0"/>
              <a:t>6.  </a:t>
            </a:r>
            <a:r>
              <a:rPr lang="ru-RU" dirty="0" smtClean="0"/>
              <a:t>политический </a:t>
            </a:r>
            <a:r>
              <a:rPr lang="ru-RU" dirty="0"/>
              <a:t>«вес</a:t>
            </a:r>
            <a:r>
              <a:rPr lang="ru-RU" dirty="0" smtClean="0"/>
              <a:t>»:</a:t>
            </a:r>
          </a:p>
          <a:p>
            <a:r>
              <a:rPr lang="ru-RU" dirty="0" smtClean="0"/>
              <a:t>Мажоритарная</a:t>
            </a:r>
          </a:p>
          <a:p>
            <a:r>
              <a:rPr lang="ru-RU" dirty="0"/>
              <a:t>партия с мажоритарным призванием </a:t>
            </a:r>
            <a:endParaRPr lang="ru-RU" dirty="0" smtClean="0"/>
          </a:p>
          <a:p>
            <a:r>
              <a:rPr lang="ru-RU" dirty="0" smtClean="0"/>
              <a:t>до­минирующая</a:t>
            </a:r>
          </a:p>
          <a:p>
            <a:r>
              <a:rPr lang="ru-RU" dirty="0" smtClean="0"/>
              <a:t>Миноритарная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785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ru-RU" b="1" dirty="0" smtClean="0"/>
              <a:t>Партийная система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1200727" y="1932982"/>
            <a:ext cx="10363826" cy="445858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/>
              <a:t>-это </a:t>
            </a:r>
            <a:r>
              <a:rPr lang="ru-RU" dirty="0"/>
              <a:t>совокупность устойчивых связей и отношений между партиями, участвующими в осуществлении политической власти</a:t>
            </a:r>
            <a:r>
              <a:rPr lang="ru-RU" dirty="0" smtClean="0"/>
              <a:t>.</a:t>
            </a:r>
          </a:p>
          <a:p>
            <a:r>
              <a:rPr lang="ru-RU" dirty="0"/>
              <a:t>Беспартийные системы </a:t>
            </a:r>
            <a:endParaRPr lang="ru-RU" dirty="0"/>
          </a:p>
          <a:p>
            <a:r>
              <a:rPr lang="ru-RU" dirty="0"/>
              <a:t>Партийная система с единственной </a:t>
            </a:r>
            <a:r>
              <a:rPr lang="ru-RU" dirty="0" smtClean="0"/>
              <a:t>партией</a:t>
            </a:r>
          </a:p>
          <a:p>
            <a:r>
              <a:rPr lang="ru-RU" dirty="0"/>
              <a:t>Партийная система с партией, осуществляющей </a:t>
            </a:r>
            <a:r>
              <a:rPr lang="ru-RU" dirty="0" smtClean="0"/>
              <a:t>гегемонию</a:t>
            </a:r>
          </a:p>
          <a:p>
            <a:r>
              <a:rPr lang="ru-RU" dirty="0"/>
              <a:t>Система с доминирующей </a:t>
            </a:r>
            <a:r>
              <a:rPr lang="ru-RU" dirty="0" smtClean="0"/>
              <a:t>партией</a:t>
            </a:r>
          </a:p>
          <a:p>
            <a:r>
              <a:rPr lang="ru-RU" dirty="0"/>
              <a:t>Двухпартийная </a:t>
            </a:r>
            <a:r>
              <a:rPr lang="ru-RU" dirty="0" smtClean="0"/>
              <a:t>система</a:t>
            </a:r>
          </a:p>
          <a:p>
            <a:r>
              <a:rPr lang="ru-RU" dirty="0"/>
              <a:t>Система умеренного </a:t>
            </a:r>
            <a:r>
              <a:rPr lang="ru-RU" dirty="0" smtClean="0"/>
              <a:t>плюрализма</a:t>
            </a:r>
          </a:p>
          <a:p>
            <a:r>
              <a:rPr lang="ru-RU" dirty="0"/>
              <a:t>Система крайнего </a:t>
            </a:r>
            <a:r>
              <a:rPr lang="ru-RU" dirty="0" smtClean="0"/>
              <a:t>плюрализма</a:t>
            </a:r>
          </a:p>
          <a:p>
            <a:r>
              <a:rPr lang="ru-RU" dirty="0" err="1"/>
              <a:t>Атомизированная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0717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ru-RU" b="1" dirty="0" smtClean="0"/>
              <a:t>Общественное объединение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- добро­вольное, самоуправляемое формирование, созданное по инициативе граждан, объединившихся на основе общности интересов для реали­зации общих целей.</a:t>
            </a:r>
          </a:p>
          <a:p>
            <a:r>
              <a:rPr lang="ru-RU" dirty="0" smtClean="0"/>
              <a:t>общественная организация </a:t>
            </a:r>
          </a:p>
          <a:p>
            <a:r>
              <a:rPr lang="ru-RU" dirty="0" smtClean="0"/>
              <a:t>общественное движение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4931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общественная организация 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 smtClean="0"/>
              <a:t>полити­ческие</a:t>
            </a:r>
            <a:endParaRPr lang="ru-RU" dirty="0"/>
          </a:p>
          <a:p>
            <a:r>
              <a:rPr lang="ru-RU" dirty="0" smtClean="0"/>
              <a:t>неполитические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0319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общественное движение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Женское </a:t>
            </a:r>
            <a:r>
              <a:rPr lang="ru-RU" dirty="0" smtClean="0"/>
              <a:t>движение</a:t>
            </a:r>
          </a:p>
          <a:p>
            <a:r>
              <a:rPr lang="ru-RU" dirty="0"/>
              <a:t>Антивоенное </a:t>
            </a:r>
            <a:r>
              <a:rPr lang="ru-RU" dirty="0" smtClean="0"/>
              <a:t>движение</a:t>
            </a:r>
          </a:p>
          <a:p>
            <a:r>
              <a:rPr lang="ru-RU" dirty="0"/>
              <a:t>Экологическое </a:t>
            </a:r>
            <a:r>
              <a:rPr lang="ru-RU" dirty="0" smtClean="0"/>
              <a:t>движение</a:t>
            </a:r>
          </a:p>
          <a:p>
            <a:r>
              <a:rPr lang="ru-RU" dirty="0"/>
              <a:t>Правозащитное </a:t>
            </a:r>
            <a:r>
              <a:rPr lang="ru-RU" dirty="0" smtClean="0"/>
              <a:t>движение</a:t>
            </a:r>
          </a:p>
          <a:p>
            <a:r>
              <a:rPr lang="ru-RU" dirty="0"/>
              <a:t>Молодежное </a:t>
            </a:r>
            <a:r>
              <a:rPr lang="ru-RU" dirty="0" smtClean="0"/>
              <a:t>движение</a:t>
            </a:r>
          </a:p>
          <a:p>
            <a:r>
              <a:rPr lang="ru-RU" dirty="0"/>
              <a:t>Национальное </a:t>
            </a:r>
            <a:r>
              <a:rPr lang="ru-RU" dirty="0" smtClean="0"/>
              <a:t>движени</a:t>
            </a:r>
            <a:r>
              <a:rPr lang="ru-RU" i="1" dirty="0" smtClean="0"/>
              <a:t>е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7170509"/>
      </p:ext>
    </p:extLst>
  </p:cSld>
  <p:clrMapOvr>
    <a:masterClrMapping/>
  </p:clrMapOvr>
</p:sld>
</file>

<file path=ppt/theme/theme1.xml><?xml version="1.0" encoding="utf-8"?>
<a:theme xmlns:a="http://schemas.openxmlformats.org/drawingml/2006/main" name="Капля">
  <a:themeElements>
    <a:clrScheme name="Капля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Капля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апл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Капля</Template>
  <TotalTime>112</TotalTime>
  <Words>533</Words>
  <Application>Microsoft Office PowerPoint</Application>
  <PresentationFormat>Широкоэкранный</PresentationFormat>
  <Paragraphs>78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Tw Cen MT</vt:lpstr>
      <vt:lpstr>Капля</vt:lpstr>
      <vt:lpstr>Политические партии и общественные движения</vt:lpstr>
      <vt:lpstr>Политическая партия </vt:lpstr>
      <vt:lpstr>Признаки политической партии </vt:lpstr>
      <vt:lpstr>внутренняя и внешняя структу­ра</vt:lpstr>
      <vt:lpstr>Финансирование деятельности партии</vt:lpstr>
      <vt:lpstr>цели политической партии</vt:lpstr>
      <vt:lpstr>Функции политической партии</vt:lpstr>
      <vt:lpstr>общественно важные задачи</vt:lpstr>
      <vt:lpstr>Типы политических партий</vt:lpstr>
      <vt:lpstr>Типы политических партий</vt:lpstr>
      <vt:lpstr>Типы политических партий</vt:lpstr>
      <vt:lpstr>Партийная система </vt:lpstr>
      <vt:lpstr>Общественное объединение </vt:lpstr>
      <vt:lpstr>общественная организация  </vt:lpstr>
      <vt:lpstr>общественное движение</vt:lpstr>
    </vt:vector>
  </TitlesOfParts>
  <Company>UralSOFT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Политические партии и общественные движения</dc:title>
  <dc:creator>Пользователь Windows</dc:creator>
  <cp:lastModifiedBy>Пользователь Windows</cp:lastModifiedBy>
  <cp:revision>5</cp:revision>
  <dcterms:created xsi:type="dcterms:W3CDTF">2020-04-09T17:28:19Z</dcterms:created>
  <dcterms:modified xsi:type="dcterms:W3CDTF">2020-04-09T19:20:59Z</dcterms:modified>
</cp:coreProperties>
</file>