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1"/>
  </p:notesMasterIdLst>
  <p:sldIdLst>
    <p:sldId id="256" r:id="rId2"/>
    <p:sldId id="257" r:id="rId3"/>
    <p:sldId id="259" r:id="rId4"/>
    <p:sldId id="292" r:id="rId5"/>
    <p:sldId id="385" r:id="rId6"/>
    <p:sldId id="386" r:id="rId7"/>
    <p:sldId id="387" r:id="rId8"/>
    <p:sldId id="388" r:id="rId9"/>
    <p:sldId id="389" r:id="rId10"/>
    <p:sldId id="390" r:id="rId11"/>
    <p:sldId id="391" r:id="rId12"/>
    <p:sldId id="392" r:id="rId13"/>
    <p:sldId id="393" r:id="rId14"/>
    <p:sldId id="394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9" r:id="rId29"/>
    <p:sldId id="408" r:id="rId30"/>
    <p:sldId id="410" r:id="rId31"/>
    <p:sldId id="412" r:id="rId32"/>
    <p:sldId id="411" r:id="rId33"/>
    <p:sldId id="413" r:id="rId34"/>
    <p:sldId id="414" r:id="rId35"/>
    <p:sldId id="415" r:id="rId36"/>
    <p:sldId id="416" r:id="rId37"/>
    <p:sldId id="417" r:id="rId38"/>
    <p:sldId id="418" r:id="rId39"/>
    <p:sldId id="41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-636" y="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BE7E5-F95D-4F92-AB31-C1ABF672969B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5F091-C6D6-4965-824A-F0256FA2075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08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75F091-C6D6-4965-824A-F0256FA2075C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15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8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71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41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70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48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87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85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03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64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77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691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78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59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2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49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34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E1D46-05DB-4EA8-893E-684EB5C9C642}" type="datetimeFigureOut">
              <a:rPr lang="ru-RU" smtClean="0"/>
              <a:pPr/>
              <a:t>13.11.2021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0F597-140D-456C-9747-228E7CC8C23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091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81201" y="1502190"/>
            <a:ext cx="9001462" cy="2387600"/>
          </a:xfrm>
        </p:spPr>
        <p:txBody>
          <a:bodyPr>
            <a:noAutofit/>
          </a:bodyPr>
          <a:lstStyle/>
          <a:p>
            <a:r>
              <a:rPr lang="ru-RU" sz="4400" dirty="0" smtClean="0"/>
              <a:t>Тема: Политические партии и общественные организации</a:t>
            </a:r>
            <a:endParaRPr lang="ru-RU" sz="4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398" y="159252"/>
            <a:ext cx="952127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 smtClean="0"/>
              <a:t>Кафедра «Информационная аналитика и политические технологии»</a:t>
            </a:r>
            <a:endParaRPr lang="ru-RU" sz="3200" dirty="0">
              <a:latin typeface="Franklin Gothic Heavy" panose="020B0903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486" y="5111876"/>
            <a:ext cx="9700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действительный государственный советник Российской Федерации </a:t>
            </a:r>
          </a:p>
          <a:p>
            <a:r>
              <a:rPr lang="ru-RU" sz="2400" dirty="0" smtClean="0"/>
              <a:t>3 класса,  доктор  политических наук</a:t>
            </a:r>
          </a:p>
          <a:p>
            <a:r>
              <a:rPr lang="ru-RU" sz="2400" dirty="0" smtClean="0"/>
              <a:t> </a:t>
            </a:r>
            <a:r>
              <a:rPr lang="ru-RU" sz="2400" dirty="0" err="1" smtClean="0"/>
              <a:t>Бочарников</a:t>
            </a:r>
            <a:r>
              <a:rPr lang="ru-RU" sz="2400" dirty="0" smtClean="0"/>
              <a:t> Игорь Валентинович</a:t>
            </a:r>
            <a:endParaRPr lang="ru-RU" sz="2400" b="1" dirty="0"/>
          </a:p>
        </p:txBody>
      </p:sp>
      <p:pic>
        <p:nvPicPr>
          <p:cNvPr id="11776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9959926" y="6268888"/>
            <a:ext cx="20079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http://nic-pnb.ru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58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u="sng" dirty="0">
                <a:solidFill>
                  <a:srgbClr val="92D050"/>
                </a:solidFill>
              </a:rPr>
              <a:t>Учебные вопросы:</a:t>
            </a:r>
            <a:r>
              <a:rPr lang="ru-RU" sz="3600" dirty="0"/>
              <a:t/>
            </a:r>
            <a:br>
              <a:rPr lang="ru-RU" sz="3600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794" y="2096064"/>
            <a:ext cx="8891387" cy="36951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b="1" dirty="0" smtClean="0"/>
              <a:t>1. Политические партии и партийные системы. </a:t>
            </a:r>
            <a:endParaRPr lang="ru-RU" sz="2800" dirty="0" smtClean="0"/>
          </a:p>
          <a:p>
            <a:pPr>
              <a:buNone/>
            </a:pPr>
            <a:r>
              <a:rPr lang="ru-RU" sz="2800" b="1" dirty="0" smtClean="0"/>
              <a:t>2. Общественные организации и их роль в политической жизни. </a:t>
            </a:r>
            <a:endParaRPr lang="ru-RU" sz="2800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5903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endParaRPr lang="ru-RU" sz="32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533379"/>
            <a:ext cx="10653199" cy="4909624"/>
          </a:xfrm>
        </p:spPr>
        <p:txBody>
          <a:bodyPr>
            <a:noAutofit/>
          </a:bodyPr>
          <a:lstStyle/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Любой тип политической деятельности осуществляется в каких-либо организационных формах.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 Организация направляет действия многих людей к единой цели, регулирует их в соответствии с определенными нормами. 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Благодаря организации присущие ей идеологические или моральные установки превращаются в материальную силу.</a:t>
            </a:r>
            <a:endParaRPr lang="ru-RU" sz="32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 smtClean="0"/>
              <a:t>Организация выступает важнейшим средством выражения интересов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62511" y="1759802"/>
            <a:ext cx="7425733" cy="4598126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3200" dirty="0" smtClean="0"/>
              <a:t>"Дайте нам организацию революционеров, и мы перевернем всю Россию".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3200" dirty="0" smtClean="0"/>
              <a:t>Без политической организации интеграция общества на длительный период оказывается просто невозможной. </a:t>
            </a: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Рисунок 9" descr="http://www.funlib.ru/cimg/2014/102204/0944319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5926" y="1730353"/>
            <a:ext cx="3179299" cy="396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004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endParaRPr lang="ru-RU" sz="32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533379"/>
            <a:ext cx="10653199" cy="4909624"/>
          </a:xfrm>
        </p:spPr>
        <p:txBody>
          <a:bodyPr>
            <a:noAutofit/>
          </a:bodyPr>
          <a:lstStyle/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В первую очередь, такими политическими организациями являются партии.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Что такое партия? В переводе с латинского слово "партия" означает "часть". Часть народа, часть общества.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endParaRPr lang="ru-RU" sz="32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533379"/>
            <a:ext cx="10653199" cy="4909624"/>
          </a:xfrm>
        </p:spPr>
        <p:txBody>
          <a:bodyPr>
            <a:noAutofit/>
          </a:bodyPr>
          <a:lstStyle/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Одни считают, что в партии вступают наиболее активные граждане, стремящиеся к политической деятельности, воспринявшие общественные интересы как свои личные.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 Другие полагают, что в партии идут люди для удовлетворения своих карьеристских побуждений, удовлетворения своих амбиций. </a:t>
            </a:r>
            <a:endParaRPr lang="ru-RU" sz="32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endParaRPr lang="ru-RU" sz="32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266092"/>
            <a:ext cx="11047096" cy="5591908"/>
          </a:xfrm>
        </p:spPr>
        <p:txBody>
          <a:bodyPr>
            <a:noAutofit/>
          </a:bodyPr>
          <a:lstStyle/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Сегодня, главное в деятельности партий - изучение интересов социальных групп и слоев и их защита. Для защиты интересов нужны свои люди в парламенте. 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Поэтому партии не могут стоять в стороне от борьбы за власть.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3200" b="1" i="1" dirty="0" smtClean="0"/>
              <a:t>Партия </a:t>
            </a:r>
            <a:r>
              <a:rPr lang="ru-RU" sz="3200" dirty="0" smtClean="0"/>
              <a:t>- это политическая организация свободно объединившихся людей на базе общности их социальных интересов, реализуемых при овладении ими политической властью.</a:t>
            </a:r>
          </a:p>
          <a:p>
            <a:pPr indent="228600" algn="just">
              <a:spcBef>
                <a:spcPts val="0"/>
              </a:spcBef>
              <a:buNone/>
            </a:pPr>
            <a:endParaRPr lang="ru-RU" sz="32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r>
              <a:rPr lang="ru-RU" sz="4400" dirty="0" smtClean="0"/>
              <a:t>функции партий</a:t>
            </a:r>
            <a:endParaRPr lang="ru-RU" sz="44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266092"/>
            <a:ext cx="11047096" cy="5591908"/>
          </a:xfrm>
        </p:spPr>
        <p:txBody>
          <a:bodyPr>
            <a:noAutofit/>
          </a:bodyPr>
          <a:lstStyle/>
          <a:p>
            <a:r>
              <a:rPr lang="ru-RU" sz="3200" dirty="0" smtClean="0"/>
              <a:t> социально-политическое просвещение и сплочение граждан на основе общности интересов;</a:t>
            </a:r>
          </a:p>
          <a:p>
            <a:pPr>
              <a:buNone/>
            </a:pPr>
            <a:r>
              <a:rPr lang="ru-RU" sz="3200" dirty="0" smtClean="0"/>
              <a:t>• разъяснение массам политической и социально-экономической ситуации, в которой живет общество, и предложение платформы действий. В этих целях партия взаимодействует с другими политическими силами;</a:t>
            </a:r>
          </a:p>
          <a:p>
            <a:pPr>
              <a:buNone/>
            </a:pPr>
            <a:r>
              <a:rPr lang="ru-RU" sz="3200" dirty="0" smtClean="0"/>
              <a:t>• участие в борьбе за власть и создание программ деятельности государства;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r>
              <a:rPr lang="ru-RU" sz="4400" dirty="0" smtClean="0"/>
              <a:t>функции партий</a:t>
            </a:r>
            <a:endParaRPr lang="ru-RU" sz="44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266092"/>
            <a:ext cx="11047096" cy="5591908"/>
          </a:xfrm>
        </p:spPr>
        <p:txBody>
          <a:bodyPr>
            <a:noAutofit/>
          </a:bodyPr>
          <a:lstStyle/>
          <a:p>
            <a:r>
              <a:rPr lang="ru-RU" sz="3200" dirty="0" smtClean="0"/>
              <a:t> формирование в парламенте партийной фракции как звена между партией и органами власти. Через фракцию партия выступает со своими законодательными инициативами;</a:t>
            </a:r>
          </a:p>
          <a:p>
            <a:r>
              <a:rPr lang="ru-RU" sz="3200" dirty="0" smtClean="0"/>
              <a:t> разработка принципов и форм отношений с другими партиями: формирование избирательных блоков, тактика сотрудничества (или блокирования) с другими партиями в парламенте и т.д.;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r>
              <a:rPr lang="ru-RU" sz="4400" dirty="0" smtClean="0"/>
              <a:t>функции партий</a:t>
            </a:r>
            <a:endParaRPr lang="ru-RU" sz="44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0615" y="1125415"/>
            <a:ext cx="11047096" cy="5732585"/>
          </a:xfrm>
        </p:spPr>
        <p:txBody>
          <a:bodyPr>
            <a:noAutofit/>
          </a:bodyPr>
          <a:lstStyle/>
          <a:p>
            <a:r>
              <a:rPr lang="ru-RU" sz="3200" dirty="0" smtClean="0"/>
              <a:t>организация оппозиции государственным органам, давление на ни если их политика не отражает интересов тех слоев, которые представляет партия;</a:t>
            </a:r>
          </a:p>
          <a:p>
            <a:pPr>
              <a:buNone/>
            </a:pPr>
            <a:r>
              <a:rPr lang="ru-RU" sz="3200" dirty="0" smtClean="0"/>
              <a:t>• осуществление посредничества между гражданским обществом и политической властью;</a:t>
            </a:r>
          </a:p>
          <a:p>
            <a:pPr>
              <a:buNone/>
            </a:pPr>
            <a:r>
              <a:rPr lang="ru-RU" sz="3200" dirty="0" smtClean="0"/>
              <a:t>• подготовка и выдвижение кадров для аппарата государства, профсоюзов, общественных организаций;</a:t>
            </a:r>
          </a:p>
          <a:p>
            <a:pPr>
              <a:buNone/>
            </a:pPr>
            <a:r>
              <a:rPr lang="ru-RU" sz="3200" dirty="0" smtClean="0"/>
              <a:t>• работа с молодежью с целью вовлечения в активную политически-социально-экономическую деятельность.</a:t>
            </a:r>
          </a:p>
          <a:p>
            <a:pPr indent="228600" algn="just">
              <a:spcBef>
                <a:spcPts val="0"/>
              </a:spcBef>
              <a:buNone/>
            </a:pPr>
            <a:endParaRPr lang="ru-RU" sz="32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r>
              <a:rPr lang="ru-RU" sz="4400" dirty="0" smtClean="0"/>
              <a:t>Эволюция политических партий</a:t>
            </a:r>
            <a:endParaRPr lang="ru-RU" sz="44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346917" y="1125415"/>
            <a:ext cx="7230794" cy="5732585"/>
          </a:xfrm>
        </p:spPr>
        <p:txBody>
          <a:bodyPr>
            <a:noAutofit/>
          </a:bodyPr>
          <a:lstStyle/>
          <a:p>
            <a:pPr indent="228600">
              <a:spcBef>
                <a:spcPts val="0"/>
              </a:spcBef>
              <a:buNone/>
            </a:pPr>
            <a:r>
              <a:rPr lang="ru-RU" sz="3200" dirty="0" smtClean="0"/>
              <a:t>Становление политических партий как необходимых элементов политической структуры общества отражает процесс приобщения к политике все более широких кругов населения. </a:t>
            </a:r>
          </a:p>
          <a:p>
            <a:pPr indent="228600">
              <a:spcBef>
                <a:spcPts val="0"/>
              </a:spcBef>
              <a:buNone/>
            </a:pPr>
            <a:r>
              <a:rPr lang="ru-RU" sz="3200" dirty="0" smtClean="0"/>
              <a:t>Макс Вебер выделял в развитии партий три периода:</a:t>
            </a:r>
          </a:p>
          <a:p>
            <a:pPr>
              <a:buNone/>
            </a:pPr>
            <a:endParaRPr lang="ru-RU" sz="3200" dirty="0" smtClean="0"/>
          </a:p>
          <a:p>
            <a:pPr indent="228600" algn="just">
              <a:spcBef>
                <a:spcPts val="0"/>
              </a:spcBef>
              <a:buNone/>
            </a:pPr>
            <a:endParaRPr lang="ru-RU" sz="32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5170" name="Picture 2" descr="http://www.liberal-vision.org/wp-content/uploads/2010/03/weber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3199" y="1915916"/>
            <a:ext cx="3600725" cy="396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156755"/>
            <a:ext cx="10353761" cy="1326321"/>
          </a:xfrm>
        </p:spPr>
        <p:txBody>
          <a:bodyPr>
            <a:normAutofit/>
          </a:bodyPr>
          <a:lstStyle/>
          <a:p>
            <a:r>
              <a:rPr lang="ru-RU" sz="4400" dirty="0" smtClean="0"/>
              <a:t>Эволюция политических партий</a:t>
            </a:r>
            <a:endParaRPr lang="ru-RU" sz="4400" dirty="0">
              <a:solidFill>
                <a:srgbClr val="92D05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963" y="1125415"/>
            <a:ext cx="11169748" cy="5732585"/>
          </a:xfrm>
        </p:spPr>
        <p:txBody>
          <a:bodyPr>
            <a:noAutofit/>
          </a:bodyPr>
          <a:lstStyle/>
          <a:p>
            <a:pPr indent="228600" algn="just">
              <a:spcBef>
                <a:spcPts val="0"/>
              </a:spcBef>
              <a:buNone/>
            </a:pPr>
            <a:r>
              <a:rPr lang="ru-RU" sz="3200" dirty="0" smtClean="0"/>
              <a:t>-</a:t>
            </a:r>
            <a:r>
              <a:rPr lang="en-US" sz="3100" dirty="0" smtClean="0"/>
              <a:t>XVII</a:t>
            </a:r>
            <a:r>
              <a:rPr lang="ru-RU" sz="3100" dirty="0" smtClean="0"/>
              <a:t> вв. партии в Европе представляли собой аристократические группировки, объединяющие немногочисленных представителей политической элиты;</a:t>
            </a:r>
          </a:p>
          <a:p>
            <a:pPr indent="228600" algn="just">
              <a:spcBef>
                <a:spcPts val="0"/>
              </a:spcBef>
              <a:buFontTx/>
              <a:buChar char="-"/>
            </a:pPr>
            <a:r>
              <a:rPr lang="ru-RU" sz="3100" dirty="0" smtClean="0"/>
              <a:t>в </a:t>
            </a:r>
            <a:r>
              <a:rPr lang="en-US" sz="3100" dirty="0" smtClean="0"/>
              <a:t>XVII</a:t>
            </a:r>
            <a:r>
              <a:rPr lang="ru-RU" sz="3100" dirty="0" smtClean="0"/>
              <a:t>-</a:t>
            </a:r>
            <a:r>
              <a:rPr lang="en-US" sz="3100" dirty="0" smtClean="0"/>
              <a:t>XIX</a:t>
            </a:r>
            <a:r>
              <a:rPr lang="ru-RU" sz="3100" dirty="0" smtClean="0"/>
              <a:t> вв. - это уже политические клубы, стремящиеся привлечь к активной политической деятельности людей, пользующихся влиянием не только в политике, но и в других сферах жизни;</a:t>
            </a:r>
          </a:p>
          <a:p>
            <a:pPr indent="228600" algn="just">
              <a:spcBef>
                <a:spcPts val="0"/>
              </a:spcBef>
              <a:buFontTx/>
              <a:buChar char="-"/>
            </a:pPr>
            <a:r>
              <a:rPr lang="ru-RU" sz="3100" dirty="0" smtClean="0"/>
              <a:t> в </a:t>
            </a:r>
            <a:r>
              <a:rPr lang="en-US" sz="3100" dirty="0" smtClean="0"/>
              <a:t>XIX</a:t>
            </a:r>
            <a:r>
              <a:rPr lang="ru-RU" sz="3100" dirty="0" smtClean="0"/>
              <a:t>-</a:t>
            </a:r>
            <a:r>
              <a:rPr lang="en-US" sz="3100" dirty="0" smtClean="0"/>
              <a:t>XX</a:t>
            </a:r>
            <a:r>
              <a:rPr lang="ru-RU" sz="3100" dirty="0" smtClean="0"/>
              <a:t> вв. формируются современные массовые партии. Первой массовой партией было основанное в 1861 г. Либеральное товарищество регистрации выборов в Англии. </a:t>
            </a:r>
            <a:endParaRPr lang="ru-RU" sz="31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449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Основными причинами появления массовых партий были: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 smtClean="0"/>
              <a:t> повсеместное распространение избирательных прав;</a:t>
            </a:r>
          </a:p>
          <a:p>
            <a:pPr>
              <a:buNone/>
            </a:pPr>
            <a:r>
              <a:rPr lang="ru-RU" sz="3200" dirty="0" smtClean="0"/>
              <a:t>• развитие рабочего движения, организационное оформление рабочего класса. </a:t>
            </a:r>
          </a:p>
          <a:p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Признаки партий: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3200" dirty="0" smtClean="0"/>
              <a:t>партия характеризуется долговременностью действия своей организации (в "смутные" времена создаются многочисленные "партии однодневки", практически не играющие значительной роли в жизни общества);</a:t>
            </a:r>
          </a:p>
          <a:p>
            <a:r>
              <a:rPr lang="ru-RU" sz="3200" dirty="0" smtClean="0"/>
              <a:t>наличие устойчивых местных организаций, поддерживающих постоянную связь с центром;</a:t>
            </a:r>
          </a:p>
          <a:p>
            <a:r>
              <a:rPr lang="ru-RU" sz="3200" dirty="0" smtClean="0"/>
              <a:t>стремление партии в одиночку или в блоке с другими организациями завоевать власть, а не только оказывать на нее воздействие;</a:t>
            </a:r>
          </a:p>
          <a:p>
            <a:r>
              <a:rPr lang="ru-RU" sz="3200" dirty="0" smtClean="0"/>
              <a:t>поиск поддержки у народа в ходе выборов или другими способами.</a:t>
            </a:r>
          </a:p>
          <a:p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Институционализация партий предусматривает: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u-RU" sz="2400" dirty="0" smtClean="0"/>
              <a:t>а) санкционирование места партий в публичной жизни;</a:t>
            </a:r>
          </a:p>
          <a:p>
            <a:pPr algn="just">
              <a:buNone/>
            </a:pPr>
            <a:r>
              <a:rPr lang="ru-RU" sz="2400" dirty="0" smtClean="0"/>
              <a:t>б) условия деятельности партий в политической системе;</a:t>
            </a:r>
          </a:p>
          <a:p>
            <a:pPr algn="just">
              <a:buNone/>
            </a:pPr>
            <a:r>
              <a:rPr lang="ru-RU" sz="2400" dirty="0" smtClean="0"/>
              <a:t>в) участие партий в избирательной системе;</a:t>
            </a:r>
          </a:p>
          <a:p>
            <a:pPr algn="just">
              <a:buNone/>
            </a:pPr>
            <a:r>
              <a:rPr lang="ru-RU" sz="2400" dirty="0" smtClean="0"/>
              <a:t>г) способы представительства партий в органах государственной власти;</a:t>
            </a:r>
          </a:p>
          <a:p>
            <a:pPr algn="just">
              <a:buNone/>
            </a:pPr>
            <a:r>
              <a:rPr lang="ru-RU" sz="2400" dirty="0" err="1" smtClean="0"/>
              <a:t>д</a:t>
            </a:r>
            <a:r>
              <a:rPr lang="ru-RU" sz="2400" dirty="0" smtClean="0"/>
              <a:t>) финансирование деятельности партий из госбюджета. Правовое закрепление такой практики широко распространено в Германии, Швеции, Италии и ряде других стран. </a:t>
            </a:r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/>
              <a:t>Классификация партий: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sz="2400" dirty="0" smtClean="0"/>
              <a:t>Существует множество критериев, на основе которых можно </a:t>
            </a:r>
            <a:r>
              <a:rPr lang="ru-RU" sz="2400" b="1" i="1" dirty="0" smtClean="0"/>
              <a:t>классифицировать политические партии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 algn="just">
              <a:buNone/>
            </a:pPr>
            <a:r>
              <a:rPr lang="ru-RU" sz="2400" dirty="0" smtClean="0"/>
              <a:t>Марксизм в качестве основного критерия выдвигает социально-классовую сущность партии. </a:t>
            </a:r>
            <a:endParaRPr lang="en-US" sz="2400" dirty="0" smtClean="0"/>
          </a:p>
          <a:p>
            <a:pPr algn="just">
              <a:buNone/>
            </a:pPr>
            <a:r>
              <a:rPr lang="ru-RU" sz="2400" dirty="0" smtClean="0"/>
              <a:t>Либеральная традиция существенной характеристикой партии считает ее идеологическую направленность. </a:t>
            </a:r>
            <a:endParaRPr lang="en-US" sz="2400" dirty="0" smtClean="0"/>
          </a:p>
          <a:p>
            <a:pPr algn="just">
              <a:buNone/>
            </a:pPr>
            <a:r>
              <a:rPr lang="ru-RU" sz="2400" dirty="0" err="1" smtClean="0"/>
              <a:t>Институционализм</a:t>
            </a:r>
            <a:r>
              <a:rPr lang="ru-RU" sz="2400" dirty="0" smtClean="0"/>
              <a:t> в качестве основного выдвигает организационный критерий. </a:t>
            </a:r>
            <a:endParaRPr lang="en-US" sz="2400" dirty="0" smtClean="0"/>
          </a:p>
          <a:p>
            <a:pPr algn="just">
              <a:buNone/>
            </a:pPr>
            <a:r>
              <a:rPr lang="ru-RU" sz="2400" dirty="0" smtClean="0"/>
              <a:t>Некоторые исследователи классифицируют партии по положению в политической системе общества и т. д. </a:t>
            </a:r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 идеологическим основаниям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2600" b="1" dirty="0" smtClean="0"/>
              <a:t>Парламентские партии</a:t>
            </a:r>
            <a:r>
              <a:rPr lang="ru-RU" sz="2600" dirty="0" smtClean="0"/>
              <a:t>, отстаивая интересы своих социальных слоев, политическую деятельность ограничивают, как правило, участием в предвыборных кампаниях, работой своих представителей в выборных органах власти.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600" b="1" dirty="0" smtClean="0"/>
              <a:t>Авангардные партии</a:t>
            </a:r>
            <a:r>
              <a:rPr lang="ru-RU" sz="2600" dirty="0" smtClean="0"/>
              <a:t>, не ограничиваясь участием в предвыборной борьбе и в представительных органах власти, используют все другие формы политической деятельности: организацию пропагандистских кампаний, демонстраций, митингов, манифестаций, пикетов и т. д. </a:t>
            </a:r>
            <a:endParaRPr lang="ru-RU" sz="2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389" y="511127"/>
            <a:ext cx="10353761" cy="1326321"/>
          </a:xfrm>
        </p:spPr>
        <p:txBody>
          <a:bodyPr/>
          <a:lstStyle/>
          <a:p>
            <a:r>
              <a:rPr lang="ru-RU" dirty="0" smtClean="0"/>
              <a:t>По идеологическим признакам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13795" y="1983545"/>
            <a:ext cx="10353762" cy="469860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партии монополистической буржуазии;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партии мелкой и средней буржуазии;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партии широких слоев наемных работников (социал-демократические и коммунистические партии);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партии отдельных социальных слоев и групп (например, интеллигенции).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в ряде стран среди партий, выражающих интересы буржуазии, можно выделить </a:t>
            </a:r>
            <a:r>
              <a:rPr lang="ru-RU" sz="2800" b="1" dirty="0" smtClean="0"/>
              <a:t>консервативные, либеральные и клерикальные </a:t>
            </a:r>
            <a:r>
              <a:rPr lang="ru-RU" sz="2800" dirty="0" smtClean="0"/>
              <a:t>партии.</a:t>
            </a:r>
            <a:endParaRPr lang="ru-RU" sz="2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признаку прогрессивности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16405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Партии, которые отстаивают более или менее прогрессивные общественно-политические изменения, принято называть </a:t>
            </a:r>
            <a:r>
              <a:rPr lang="ru-RU" sz="2800" i="1" dirty="0" smtClean="0"/>
              <a:t>левыми,</a:t>
            </a:r>
            <a:r>
              <a:rPr lang="ru-RU" sz="2800" dirty="0" smtClean="0"/>
              <a:t>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защищающие существующие, устоявшиеся общественные порядки получили название </a:t>
            </a:r>
            <a:r>
              <a:rPr lang="ru-RU" sz="2800" i="1" dirty="0" smtClean="0"/>
              <a:t>правых,</a:t>
            </a:r>
            <a:r>
              <a:rPr lang="ru-RU" sz="2800" dirty="0" smtClean="0"/>
              <a:t>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партии, которые занимают промежуточное положение между двумя первыми и имеют черты тех и других, нередко называют партиями </a:t>
            </a:r>
            <a:r>
              <a:rPr lang="ru-RU" sz="2800" i="1" dirty="0" smtClean="0"/>
              <a:t>центра.</a:t>
            </a:r>
            <a:endParaRPr lang="ru-RU" sz="2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признаку прогрессивности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16405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Традиции, согласно которым консерваторов, реакционеров относят к правым политическим движениям, а сторонников прогрессивных общественных перемен - к левым, дожили до наших дней.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800" dirty="0" smtClean="0"/>
              <a:t>В соответствии с этим в политическом спектре западных стран ныне к левым партиям относят, как правило, политические партии трудящихся слоев, сторонников социализма и коммунизма» к правым - буржуазные партии. </a:t>
            </a:r>
            <a:endParaRPr lang="ru-RU" sz="2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 зависимости от характера доктрин и отношения к существующему общественно-политическому строю. 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13794" y="2096063"/>
            <a:ext cx="10677983" cy="4459481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2600" dirty="0" smtClean="0"/>
              <a:t>По этим признакам различают партии: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600" b="1" dirty="0" smtClean="0"/>
              <a:t>революционные</a:t>
            </a:r>
            <a:r>
              <a:rPr lang="ru-RU" sz="2600" dirty="0" smtClean="0"/>
              <a:t>, ставящие своей целью радикальное, качественное преобразование общества;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600" dirty="0" smtClean="0"/>
              <a:t> </a:t>
            </a:r>
            <a:r>
              <a:rPr lang="ru-RU" sz="2600" b="1" dirty="0" smtClean="0"/>
              <a:t>реформистские</a:t>
            </a:r>
            <a:r>
              <a:rPr lang="ru-RU" sz="2600" dirty="0" smtClean="0"/>
              <a:t>, стремящиеся к улучшению жизни без принципиальных структурных общественных изменений;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600" dirty="0" smtClean="0"/>
              <a:t> </a:t>
            </a:r>
            <a:r>
              <a:rPr lang="ru-RU" sz="2600" b="1" dirty="0" smtClean="0"/>
              <a:t>консервативные</a:t>
            </a:r>
            <a:r>
              <a:rPr lang="ru-RU" sz="2600" dirty="0" smtClean="0"/>
              <a:t>, тяготеющие к устойчивому сохранению сложившихся форм общественной жизни;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600" b="1" dirty="0" smtClean="0"/>
              <a:t>реакционные</a:t>
            </a:r>
            <a:r>
              <a:rPr lang="ru-RU" sz="2600" dirty="0" smtClean="0"/>
              <a:t>, добивающиеся частичного или полного возврата к ранее существовавшим общественным порядкам.</a:t>
            </a:r>
            <a:endParaRPr lang="ru-RU" sz="2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способу организации внутренней жизнедеятельности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u-RU" sz="2800" dirty="0" smtClean="0"/>
              <a:t>Различают партии, не имеющие официально фиксированного членства, и партии, членство в которых оформляется официально. </a:t>
            </a:r>
          </a:p>
          <a:p>
            <a:pPr algn="just">
              <a:buNone/>
            </a:pPr>
            <a:r>
              <a:rPr lang="ru-RU" sz="2800" dirty="0" smtClean="0"/>
              <a:t>Типичными примерами партий без фиксированного членства в них являются Республиканская и Демократическая партии США, Консервативная партия в Англии. </a:t>
            </a:r>
            <a:endParaRPr lang="ru-RU" sz="28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способу организации внутренней жизнедеятельности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sz="2800" dirty="0" smtClean="0"/>
              <a:t>Большинство современных политических партий имеет официально оформленное членство и сложную организационную структуру. </a:t>
            </a:r>
          </a:p>
          <a:p>
            <a:pPr algn="just">
              <a:buNone/>
            </a:pPr>
            <a:r>
              <a:rPr lang="ru-RU" sz="2800" dirty="0" smtClean="0"/>
              <a:t>Их можно назвать </a:t>
            </a:r>
            <a:r>
              <a:rPr lang="ru-RU" sz="2800" b="1" i="1" dirty="0" smtClean="0"/>
              <a:t>массовыми</a:t>
            </a:r>
            <a:r>
              <a:rPr lang="ru-RU" sz="2800" dirty="0" smtClean="0"/>
              <a:t> партиями, так как они стремятся к привлечению в свои ряды как можно большего количества граждан главным образом с целью обеспечения посредством членских взносов финансовой поддержки своей деятельности</a:t>
            </a:r>
            <a:endParaRPr lang="ru-RU" sz="28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способу организации внутренней жизнедеятельности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sz="2800" dirty="0" smtClean="0"/>
              <a:t>Кадровые партии -  </a:t>
            </a:r>
            <a:r>
              <a:rPr lang="ru-RU" sz="2800" dirty="0" err="1" smtClean="0"/>
              <a:t>партии</a:t>
            </a:r>
            <a:r>
              <a:rPr lang="ru-RU" sz="2800" dirty="0" smtClean="0"/>
              <a:t> с фиксированным членством, но с иными организационными принципами. </a:t>
            </a:r>
          </a:p>
          <a:p>
            <a:pPr algn="just">
              <a:buNone/>
            </a:pPr>
            <a:r>
              <a:rPr lang="ru-RU" sz="2800" dirty="0" smtClean="0"/>
              <a:t>Они стремятся действовать не через партийные массы, а через круг профессиональных политиков и известных общественных деятелей. </a:t>
            </a:r>
          </a:p>
          <a:p>
            <a:pPr algn="just">
              <a:buNone/>
            </a:pPr>
            <a:r>
              <a:rPr lang="ru-RU" sz="2800" dirty="0" smtClean="0"/>
              <a:t>Опираются на финансовую поддержку состоятельных слоев общества.</a:t>
            </a:r>
            <a:endParaRPr lang="ru-RU" sz="28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 источникам финансирования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sz="2800" dirty="0" smtClean="0"/>
              <a:t>Традиционно наиболее устойчивым источником средств являются членские партийные взносы. Однако используются и другие источники финансирования. </a:t>
            </a:r>
          </a:p>
          <a:p>
            <a:pPr algn="just">
              <a:buNone/>
            </a:pPr>
            <a:r>
              <a:rPr lang="ru-RU" sz="2800" dirty="0" smtClean="0"/>
              <a:t>Для консервативных и либеральных партий - это пожертвования бизнеса, для левых партий - средства, выделяемые профсоюзами. </a:t>
            </a:r>
          </a:p>
          <a:p>
            <a:pPr algn="just">
              <a:buNone/>
            </a:pPr>
            <a:r>
              <a:rPr lang="ru-RU" sz="2800" dirty="0" smtClean="0"/>
              <a:t>Все более широкую поддержку получает идея государственного финансирования партий, что не лишает их права «подкармливаться» за счет других источников</a:t>
            </a:r>
            <a:endParaRPr lang="ru-RU" sz="28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sz="2800" dirty="0" smtClean="0"/>
              <a:t>В зависимости от того, возглавляет партия (партии) правительство страны или нет, имеет большинство среди членов парламента или нет, подразделяют партии на </a:t>
            </a:r>
            <a:r>
              <a:rPr lang="ru-RU" sz="2800" i="1" dirty="0" smtClean="0"/>
              <a:t>правительственные</a:t>
            </a:r>
            <a:r>
              <a:rPr lang="ru-RU" sz="2800" dirty="0" smtClean="0"/>
              <a:t> и </a:t>
            </a:r>
            <a:r>
              <a:rPr lang="ru-RU" sz="2800" i="1" dirty="0" smtClean="0"/>
              <a:t>оппозиционные.</a:t>
            </a:r>
            <a:r>
              <a:rPr lang="ru-RU" sz="2800" dirty="0" smtClean="0"/>
              <a:t> </a:t>
            </a:r>
          </a:p>
          <a:p>
            <a:pPr algn="just">
              <a:buNone/>
            </a:pPr>
            <a:r>
              <a:rPr lang="ru-RU" sz="2800" dirty="0" smtClean="0"/>
              <a:t>Последние не обязательно ставят своей целью свержение существующего общественно-политического строя и замену его новым, хотя и это не исключается полностью.</a:t>
            </a:r>
            <a:endParaRPr lang="ru-RU" sz="28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Современное состояние политических партий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13795" y="1842868"/>
            <a:ext cx="10353762" cy="394833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sz="2400" dirty="0" smtClean="0"/>
              <a:t> Во-первых, повсеместно в мире наблюдается падение влияния партий на массы, особенно коммунистических.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400" dirty="0" smtClean="0"/>
              <a:t> Во-вторых, коренным образом изменились направления деятельности: на первое место вышли проблемы борьбы за избирателей, парламентской работы</a:t>
            </a:r>
            <a:r>
              <a:rPr lang="ru-RU" sz="2400" i="1" dirty="0" smtClean="0"/>
              <a:t>.</a:t>
            </a:r>
            <a:r>
              <a:rPr lang="ru-RU" sz="2400" dirty="0" smtClean="0"/>
              <a:t> 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400" dirty="0" smtClean="0"/>
              <a:t>В-третьих, идет интенсивный поиск путей повышения эффективности своей политики: основное внимание уделяется борьбе за средства массовой информации, компьютерные системы.</a:t>
            </a:r>
          </a:p>
          <a:p>
            <a:pPr algn="just">
              <a:spcBef>
                <a:spcPts val="0"/>
              </a:spcBef>
              <a:buNone/>
            </a:pPr>
            <a:r>
              <a:rPr lang="ru-RU" sz="2400" dirty="0" smtClean="0"/>
              <a:t> В-четвертых, происходит упрощение организационных структур, наблюдается стремление создать гибкие, подвижные системы управления. </a:t>
            </a:r>
            <a:endParaRPr lang="ru-RU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Партийные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sz="2400" dirty="0" smtClean="0"/>
              <a:t>На образование партийной системы влияет целый ряд факторов: </a:t>
            </a:r>
          </a:p>
          <a:p>
            <a:pPr algn="just"/>
            <a:r>
              <a:rPr lang="ru-RU" sz="2400" dirty="0" smtClean="0"/>
              <a:t>уровень экономического развития общества, </a:t>
            </a:r>
          </a:p>
          <a:p>
            <a:pPr algn="just"/>
            <a:r>
              <a:rPr lang="ru-RU" sz="2400" dirty="0" smtClean="0"/>
              <a:t>соотношение социально-классовых сил, </a:t>
            </a:r>
          </a:p>
          <a:p>
            <a:pPr algn="just"/>
            <a:r>
              <a:rPr lang="ru-RU" sz="2400" dirty="0" smtClean="0"/>
              <a:t>степень зрелости общественных отношений, </a:t>
            </a:r>
          </a:p>
          <a:p>
            <a:pPr algn="just"/>
            <a:r>
              <a:rPr lang="ru-RU" sz="2400" dirty="0" smtClean="0"/>
              <a:t>национальный состав населения, </a:t>
            </a:r>
          </a:p>
          <a:p>
            <a:pPr algn="just"/>
            <a:r>
              <a:rPr lang="ru-RU" sz="2400" dirty="0" smtClean="0"/>
              <a:t>исторические и религиозные традиции и другие.</a:t>
            </a:r>
          </a:p>
          <a:p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многоПартийные</a:t>
            </a:r>
            <a:r>
              <a:rPr lang="ru-RU" dirty="0" smtClean="0"/>
              <a:t> системы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ru-RU" dirty="0" smtClean="0"/>
              <a:t>Так, в Японии и Италии сложилась многопартийная система с одной доминирующей партией </a:t>
            </a:r>
            <a:r>
              <a:rPr lang="ru-RU" i="1" dirty="0" smtClean="0"/>
              <a:t>(уклад </a:t>
            </a:r>
            <a:r>
              <a:rPr lang="ru-RU" i="1" dirty="0" err="1" smtClean="0"/>
              <a:t>доминации</a:t>
            </a:r>
            <a:r>
              <a:rPr lang="ru-RU" i="1" dirty="0" smtClean="0"/>
              <a:t>).</a:t>
            </a:r>
            <a:r>
              <a:rPr lang="ru-RU" dirty="0" smtClean="0"/>
              <a:t> </a:t>
            </a:r>
          </a:p>
          <a:p>
            <a:pPr algn="just">
              <a:spcBef>
                <a:spcPts val="0"/>
              </a:spcBef>
              <a:buNone/>
            </a:pPr>
            <a:r>
              <a:rPr lang="ru-RU" dirty="0" smtClean="0"/>
              <a:t> В США, Англии, Канаде и некоторых других странах действует партийная система с двумя влиятельными партиями </a:t>
            </a:r>
            <a:r>
              <a:rPr lang="ru-RU" i="1" dirty="0" smtClean="0"/>
              <a:t>(двухпартийный уклад).</a:t>
            </a:r>
            <a:r>
              <a:rPr lang="ru-RU" dirty="0" smtClean="0"/>
              <a:t> </a:t>
            </a:r>
          </a:p>
          <a:p>
            <a:pPr algn="just">
              <a:spcBef>
                <a:spcPts val="0"/>
              </a:spcBef>
              <a:buNone/>
            </a:pPr>
            <a:r>
              <a:rPr lang="ru-RU" dirty="0" smtClean="0"/>
              <a:t>В Бельгии, Дании, Финляндии присуща </a:t>
            </a:r>
            <a:r>
              <a:rPr lang="ru-RU" i="1" dirty="0" smtClean="0"/>
              <a:t>неполяризованная коалиционная партийная система,</a:t>
            </a:r>
            <a:r>
              <a:rPr lang="ru-RU" dirty="0" smtClean="0"/>
              <a:t> когда не только ни одна из партий не пользуется преобладающим влиянием на избирателей, но и отсутствует возможность для создания прочных партийных коалиций. </a:t>
            </a:r>
          </a:p>
          <a:p>
            <a:pPr algn="just">
              <a:spcBef>
                <a:spcPts val="0"/>
              </a:spcBef>
              <a:buNone/>
            </a:pPr>
            <a:r>
              <a:rPr lang="ru-RU" dirty="0" smtClean="0"/>
              <a:t>Во Франции и в Германии существует </a:t>
            </a:r>
            <a:r>
              <a:rPr lang="ru-RU" i="1" dirty="0" smtClean="0"/>
              <a:t>поляризованная коалиционная, партийная система,</a:t>
            </a:r>
            <a:r>
              <a:rPr lang="ru-RU" dirty="0" smtClean="0"/>
              <a:t> при которой обычно две партии с полярными политическими ориентациями в течение длительного времени по своему влиянию на избирателей почти не уступают друг другу. </a:t>
            </a:r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 позитивным сторонам многопартийности относятся: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sz="2400" dirty="0" smtClean="0"/>
              <a:t>- всестороннее освещение политических вопросов, наличие у людей политической позиции, своих защитников и противников;</a:t>
            </a:r>
          </a:p>
          <a:p>
            <a:pPr algn="just">
              <a:buNone/>
            </a:pPr>
            <a:r>
              <a:rPr lang="ru-RU" sz="2400" dirty="0" smtClean="0"/>
              <a:t>- существование оппозиции, не прощающей промахов, сдерживающей бюрократизацию, заставляющей правительство действовать эффективно;</a:t>
            </a:r>
          </a:p>
          <a:p>
            <a:pPr algn="just">
              <a:buNone/>
            </a:pPr>
            <a:r>
              <a:rPr lang="ru-RU" sz="2400" dirty="0" smtClean="0"/>
              <a:t>- воспитание в партиях организованности, дисциплины, необходимых для победы над конкурентами;</a:t>
            </a:r>
          </a:p>
          <a:p>
            <a:pPr algn="just">
              <a:buNone/>
            </a:pPr>
            <a:r>
              <a:rPr lang="ru-RU" sz="2400" dirty="0" smtClean="0"/>
              <a:t>- выявление и выдвижение в политической борьбе действительно даровитых людей;</a:t>
            </a:r>
          </a:p>
          <a:p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 негативным сторонам многопартийности относятся: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-RU" dirty="0" smtClean="0"/>
              <a:t>- </a:t>
            </a:r>
            <a:r>
              <a:rPr lang="ru-RU" sz="2400" dirty="0" smtClean="0"/>
              <a:t>систематически одностороннем направлении взглядов и действий членов партии, т.к. они на все смотрят ее глазами и интересами ее политической борьбы. </a:t>
            </a:r>
          </a:p>
          <a:p>
            <a:pPr>
              <a:spcBef>
                <a:spcPts val="0"/>
              </a:spcBef>
              <a:buNone/>
            </a:pPr>
            <a:r>
              <a:rPr lang="ru-RU" sz="2400" dirty="0" smtClean="0"/>
              <a:t>- "дух" своей партии заслоняет бескорыстное стремление к общему благу- Все интересы связаны с тем, чтобы одолеть противника. Все приносится в жертву узкопартийным, а не государственным интересам;</a:t>
            </a:r>
          </a:p>
          <a:p>
            <a:pPr>
              <a:spcBef>
                <a:spcPts val="0"/>
              </a:spcBef>
              <a:buNone/>
            </a:pPr>
            <a:r>
              <a:rPr lang="ru-RU" sz="2400" dirty="0" smtClean="0"/>
              <a:t>- в политической борьбе разгораются страсти. Для победы сторонники различных партий взывают к самым низменным потребностям масс. В силу этого портятся общественные нравы;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 негативным сторонам многопартийности относятся: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/>
              <a:t>-  </a:t>
            </a:r>
            <a:r>
              <a:rPr lang="ru-RU" sz="2400" dirty="0" smtClean="0"/>
              <a:t>для достижения своих целей партии прибегают к любым, порой нечистоплотным средствам: лжи, клевете и др. Ложь становится обыденной в общественной жизни, и к ней привыкают;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400" dirty="0" smtClean="0"/>
              <a:t>- непрерывная борьба ведет к ослаблению правительственной власти, ее силы расходуются на борьбу с оппозицией.</a:t>
            </a:r>
            <a:endParaRPr lang="ru-RU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Двухпартийный уклад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-RU" sz="2200" dirty="0" smtClean="0"/>
              <a:t>Характерен для политической системы США.</a:t>
            </a:r>
          </a:p>
          <a:p>
            <a:pPr>
              <a:spcBef>
                <a:spcPts val="0"/>
              </a:spcBef>
              <a:buNone/>
            </a:pPr>
            <a:r>
              <a:rPr lang="ru-RU" sz="2200" dirty="0" smtClean="0"/>
              <a:t> Существенной чертой данной партийной системы является то, что она автоматически обеспечивает одной из двух партий большинство мест в парламенте или победу на президентских выборах.</a:t>
            </a:r>
          </a:p>
          <a:p>
            <a:pPr>
              <a:spcBef>
                <a:spcPts val="0"/>
              </a:spcBef>
              <a:buNone/>
            </a:pPr>
            <a:r>
              <a:rPr lang="ru-RU" sz="2200" dirty="0" smtClean="0"/>
              <a:t> Каждая из них имеет свой взгляд на власть и на общественное развитие, но они сходятся в главном, в своем отношении к существующему общественному строю, и потому каждая из них стремится властвовать одна, не нарушая раз и навсегда заведенный конституционный порядок.</a:t>
            </a:r>
            <a:endParaRPr lang="ru-RU" sz="22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два вида </a:t>
            </a:r>
            <a:r>
              <a:rPr lang="ru-RU" dirty="0" err="1" smtClean="0"/>
              <a:t>двупартийности</a:t>
            </a:r>
            <a:r>
              <a:rPr lang="ru-RU" dirty="0" smtClean="0"/>
              <a:t>: "жесткая" и "мягкая".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/>
              <a:t>"Жесткая" предполагает строгую дисциплину голосования в парламенте по решению партии, "мягкая" - позволяет каждому депутату голосовать по своему усмотрению, учитывая при этом решение партии. </a:t>
            </a:r>
          </a:p>
          <a:p>
            <a:pPr>
              <a:buNone/>
            </a:pPr>
            <a:r>
              <a:rPr lang="ru-RU" sz="2400" dirty="0" smtClean="0"/>
              <a:t> В Англии воплощена "жесткая" </a:t>
            </a:r>
            <a:r>
              <a:rPr lang="ru-RU" sz="2400" dirty="0" err="1" smtClean="0"/>
              <a:t>двухпартийность</a:t>
            </a:r>
            <a:r>
              <a:rPr lang="ru-RU" sz="2400" dirty="0" smtClean="0"/>
              <a:t>, те, кто нарушают дисциплину голосования, исключаются из партии. В США следуют "мягкой" </a:t>
            </a:r>
            <a:r>
              <a:rPr lang="ru-RU" sz="2400" dirty="0" err="1" smtClean="0"/>
              <a:t>двухпартийности</a:t>
            </a:r>
            <a:r>
              <a:rPr lang="ru-RU" sz="2400" dirty="0" smtClean="0"/>
              <a:t>, по каждой проблеме здесь есть большинство и оппозиция, не совпадающая с разделением на две партии. </a:t>
            </a:r>
            <a:endParaRPr lang="ru-RU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Однопартийная система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400" dirty="0" smtClean="0"/>
              <a:t>Свойственен авторитарному политическому режиму.</a:t>
            </a:r>
          </a:p>
          <a:p>
            <a:pPr>
              <a:buNone/>
            </a:pPr>
            <a:r>
              <a:rPr lang="ru-RU" sz="2400" dirty="0" smtClean="0"/>
              <a:t>Под  этим принципом следует понимать не количество действующих в стране партий (даже не количество находящихся на легальном положении), а законодательное закрепление за одной из разрешенных партий формального  статуса правящей.</a:t>
            </a:r>
          </a:p>
          <a:p>
            <a:pPr>
              <a:buNone/>
            </a:pPr>
            <a:r>
              <a:rPr lang="ru-RU" sz="2400" dirty="0" smtClean="0"/>
              <a:t> На практике роль такой партии сводится к организации массовой поддержки политики руководства государства.</a:t>
            </a:r>
            <a:endParaRPr lang="ru-RU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None/>
            </a:pPr>
            <a:r>
              <a:rPr lang="ru-RU" sz="2400" dirty="0" smtClean="0"/>
              <a:t>Тоталитарному режиму также свойственна своя партийная система. Здесь действует только одна политическая партия, другие распущены или запрещены. </a:t>
            </a:r>
          </a:p>
          <a:p>
            <a:pPr algn="just">
              <a:buNone/>
            </a:pPr>
            <a:r>
              <a:rPr lang="ru-RU" sz="2400" dirty="0" smtClean="0"/>
              <a:t>Однако в отличие от авторитарного режима эта партия стоит над государством, осуществляет в обществе доминирующую роль. </a:t>
            </a:r>
          </a:p>
          <a:p>
            <a:pPr algn="just">
              <a:buNone/>
            </a:pPr>
            <a:r>
              <a:rPr lang="ru-RU" sz="2400" dirty="0" smtClean="0"/>
              <a:t>Аппарат партии, как правило, срастается с аппаратом государства, что ведет к утрате различий между партийной и государственной деятельностью.</a:t>
            </a:r>
            <a:endParaRPr lang="ru-RU" sz="24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организации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ru-RU" b="1" i="1" dirty="0" smtClean="0"/>
              <a:t>Общественное объединение</a:t>
            </a:r>
            <a:r>
              <a:rPr lang="ru-RU" i="1" dirty="0" smtClean="0"/>
              <a:t> —</a:t>
            </a:r>
            <a:r>
              <a:rPr lang="ru-RU" dirty="0" smtClean="0"/>
              <a:t> это добровольное формирование граждан, возникшее в результате свободного их волеизъявления на основе общности своих интересов. Общественными объединениями признаются: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 политические партии, 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массовые движения, 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профессиональные союзы, 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женские, ветеранские организации, общества инвалидов, 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молодежные и детские организации, научные, технические, культурно-просветительские» физкультурно-спортивные и иные добровольные общества, </a:t>
            </a:r>
          </a:p>
          <a:p>
            <a:pPr>
              <a:spcBef>
                <a:spcPts val="0"/>
              </a:spcBef>
            </a:pPr>
            <a:r>
              <a:rPr lang="ru-RU" dirty="0" smtClean="0"/>
              <a:t>фонды, ассоциации, другие формирования граждан. </a:t>
            </a:r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организации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228600" algn="just">
              <a:spcBef>
                <a:spcPts val="0"/>
              </a:spcBef>
              <a:buNone/>
            </a:pPr>
            <a:r>
              <a:rPr lang="ru-RU" sz="2400" i="1" dirty="0" smtClean="0"/>
              <a:t>Общественной организацией</a:t>
            </a:r>
            <a:r>
              <a:rPr lang="ru-RU" sz="2400" dirty="0" smtClean="0"/>
              <a:t> называется добровольное объединение граждан, имеющее внутреннюю организационную структуру снизу доверху, фиксированное индивидуальное   или   коллективное  членство. 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2400" dirty="0" smtClean="0"/>
              <a:t> </a:t>
            </a:r>
            <a:r>
              <a:rPr lang="ru-RU" sz="2400" i="1" dirty="0" smtClean="0"/>
              <a:t>Массовым общественным движением</a:t>
            </a:r>
            <a:r>
              <a:rPr lang="ru-RU" sz="2400" dirty="0" smtClean="0"/>
              <a:t> называется совместная деятельность граждан, преследующих определенные общественные цели, но не имеющих завершенной организационной структуры и фиксированного членства. </a:t>
            </a:r>
          </a:p>
          <a:p>
            <a:pPr indent="228600" algn="just">
              <a:spcBef>
                <a:spcPts val="0"/>
              </a:spcBef>
              <a:buNone/>
            </a:pPr>
            <a:r>
              <a:rPr lang="ru-RU" sz="2400" dirty="0" smtClean="0"/>
              <a:t>Эти два понятия вбирают в себя все разнообразие конкретных форм объединений граждан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организации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28600" algn="just">
              <a:buNone/>
            </a:pPr>
            <a:r>
              <a:rPr lang="ru-RU" dirty="0" smtClean="0"/>
              <a:t>Политический характер носят те общественные объединения, которые пытаются изменить существующие политические условия или закрепить их путем оказания влияния на институты власти либо же путем борьбы за власть. </a:t>
            </a:r>
          </a:p>
          <a:p>
            <a:pPr indent="228600" algn="just">
              <a:buNone/>
            </a:pPr>
            <a:r>
              <a:rPr lang="ru-RU" dirty="0" smtClean="0"/>
              <a:t>Общественные объединения, которые не создавались в качестве политической партии, но в последующем вступают в борьбу за власть, тем самым фактически превращаются в политические партии. </a:t>
            </a:r>
          </a:p>
          <a:p>
            <a:pPr indent="228600" algn="just">
              <a:buNone/>
            </a:pPr>
            <a:r>
              <a:rPr lang="ru-RU" dirty="0" smtClean="0"/>
              <a:t>Следовательно, </a:t>
            </a:r>
            <a:r>
              <a:rPr lang="ru-RU" i="1" dirty="0" smtClean="0"/>
              <a:t>политическая функция</a:t>
            </a:r>
            <a:r>
              <a:rPr lang="ru-RU" dirty="0" smtClean="0"/>
              <a:t> общественных объединений, не являющихся политическими партиями, состоит не в борьбе за завоевание власти, а в оказании давления на властные структуры с целью реализации интересов своих участников.</a:t>
            </a:r>
            <a:endParaRPr lang="ru-RU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57332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3869</TotalTime>
  <Words>2256</Words>
  <Application>Microsoft Office PowerPoint</Application>
  <PresentationFormat>Произвольный</PresentationFormat>
  <Paragraphs>159</Paragraphs>
  <Slides>39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Damask</vt:lpstr>
      <vt:lpstr>Тема: Политические партии и общественные организации</vt:lpstr>
      <vt:lpstr>Учебные вопросы: </vt:lpstr>
      <vt:lpstr>Презентация PowerPoint</vt:lpstr>
      <vt:lpstr>Организация выступает важнейшим средством выражения интересов</vt:lpstr>
      <vt:lpstr>Презентация PowerPoint</vt:lpstr>
      <vt:lpstr>Презентация PowerPoint</vt:lpstr>
      <vt:lpstr>Презентация PowerPoint</vt:lpstr>
      <vt:lpstr>функции партий</vt:lpstr>
      <vt:lpstr>функции партий</vt:lpstr>
      <vt:lpstr>функции партий</vt:lpstr>
      <vt:lpstr>Эволюция политических партий</vt:lpstr>
      <vt:lpstr>Эволюция политических партий</vt:lpstr>
      <vt:lpstr>Основными причинами появления массовых партий были: </vt:lpstr>
      <vt:lpstr>Признаки партий: </vt:lpstr>
      <vt:lpstr>Институционализация партий предусматривает:</vt:lpstr>
      <vt:lpstr>Классификация партий:</vt:lpstr>
      <vt:lpstr>По идеологическим основаниям</vt:lpstr>
      <vt:lpstr>По идеологическим признакам</vt:lpstr>
      <vt:lpstr>По признаку прогрессивности</vt:lpstr>
      <vt:lpstr>По признаку прогрессивности</vt:lpstr>
      <vt:lpstr>в зависимости от характера доктрин и отношения к существующему общественно-политическому строю. </vt:lpstr>
      <vt:lpstr>По способу организации внутренней жизнедеятельности</vt:lpstr>
      <vt:lpstr>По способу организации внутренней жизнедеятельности</vt:lpstr>
      <vt:lpstr>По способу организации внутренней жизнедеятельности</vt:lpstr>
      <vt:lpstr>По источникам финансирования</vt:lpstr>
      <vt:lpstr>Презентация PowerPoint</vt:lpstr>
      <vt:lpstr>Современное состояние политических партий</vt:lpstr>
      <vt:lpstr>Партийные системы</vt:lpstr>
      <vt:lpstr>многоПартийные системы</vt:lpstr>
      <vt:lpstr>К позитивным сторонам многопартийности относятся: </vt:lpstr>
      <vt:lpstr>К негативным сторонам многопартийности относятся: </vt:lpstr>
      <vt:lpstr>К негативным сторонам многопартийности относятся: </vt:lpstr>
      <vt:lpstr>Двухпартийный уклад</vt:lpstr>
      <vt:lpstr>два вида двупартийности: "жесткая" и "мягкая".</vt:lpstr>
      <vt:lpstr>Однопартийная система</vt:lpstr>
      <vt:lpstr>Презентация PowerPoint</vt:lpstr>
      <vt:lpstr>Общественные организации</vt:lpstr>
      <vt:lpstr>Общественные организации</vt:lpstr>
      <vt:lpstr>Общественные организации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игорь</cp:lastModifiedBy>
  <cp:revision>189</cp:revision>
  <dcterms:created xsi:type="dcterms:W3CDTF">2016-10-09T07:05:32Z</dcterms:created>
  <dcterms:modified xsi:type="dcterms:W3CDTF">2021-11-13T06:46:51Z</dcterms:modified>
</cp:coreProperties>
</file>